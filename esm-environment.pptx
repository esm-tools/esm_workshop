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60" r:id="rId4"/>
    <p:sldId id="261" r:id="rId5"/>
    <p:sldId id="262" r:id="rId6"/>
    <p:sldId id="267" r:id="rId7"/>
    <p:sldId id="266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19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6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8" name="Rectangle 7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>
              <a:spLocks/>
            </p:cNvSpPr>
            <p:nvPr/>
          </p:nvSpPr>
          <p:spPr>
            <a:xfrm>
              <a:off x="562843" y="475488"/>
              <a:ext cx="7982712" cy="5888736"/>
            </a:xfrm>
            <a:prstGeom prst="rect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562842" y="6133646"/>
              <a:ext cx="7982712" cy="1472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562843" y="457200"/>
              <a:ext cx="7982712" cy="25786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3950"/>
            <a:ext cx="7342188" cy="1924050"/>
          </a:xfrm>
        </p:spPr>
        <p:txBody>
          <a:bodyPr anchor="b" anchorCtr="0">
            <a:noAutofit/>
          </a:bodyPr>
          <a:lstStyle>
            <a:lvl1pPr>
              <a:defRPr sz="54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7342188" cy="17526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741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2894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191000" y="6122894"/>
            <a:ext cx="762000" cy="271463"/>
          </a:xfrm>
        </p:spPr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9" name="Rectangle 18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0" name="Straight Connector 19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" name="Rectangle 20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12" name="Rectangle 11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11"/>
            <p:cNvGrpSpPr/>
            <p:nvPr/>
          </p:nvGrpSpPr>
          <p:grpSpPr>
            <a:xfrm>
              <a:off x="562842" y="475488"/>
              <a:ext cx="7982713" cy="5888736"/>
              <a:chOff x="562842" y="475488"/>
              <a:chExt cx="7982713" cy="5888736"/>
            </a:xfrm>
          </p:grpSpPr>
          <p:sp>
            <p:nvSpPr>
              <p:cNvPr id="8" name="Rectangle 7"/>
              <p:cNvSpPr>
                <a:spLocks/>
              </p:cNvSpPr>
              <p:nvPr/>
            </p:nvSpPr>
            <p:spPr>
              <a:xfrm>
                <a:off x="562843" y="475488"/>
                <a:ext cx="7982712" cy="5888736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9" name="Straight Connector 8"/>
              <p:cNvCxnSpPr/>
              <p:nvPr/>
            </p:nvCxnSpPr>
            <p:spPr>
              <a:xfrm>
                <a:off x="562842" y="6133646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>
                <a:off x="562842" y="3427528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0113" y="3442447"/>
            <a:ext cx="7345362" cy="1532965"/>
          </a:xfrm>
        </p:spPr>
        <p:txBody>
          <a:bodyPr anchor="b" anchorCtr="0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0113" y="5029200"/>
            <a:ext cx="7345362" cy="990600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9259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4401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636493" y="533400"/>
            <a:ext cx="7836408" cy="2828925"/>
          </a:xfrm>
        </p:spPr>
        <p:txBody>
          <a:bodyPr>
            <a:normAutofit/>
          </a:bodyPr>
          <a:lstStyle>
            <a:lvl1pPr>
              <a:buNone/>
              <a:defRPr sz="20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2" name="Rectangle 11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7" name="Rectangle 26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8" name="Straight Connector 27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13" y="1371600"/>
            <a:ext cx="7345362" cy="1676400"/>
          </a:xfrm>
        </p:spPr>
        <p:txBody>
          <a:bodyPr anchor="b" anchorCtr="0">
            <a:noAutofit/>
          </a:bodyPr>
          <a:lstStyle>
            <a:lvl1pPr algn="ctr">
              <a:defRPr sz="5400" b="0" i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3" y="3134566"/>
            <a:ext cx="7345362" cy="1500187"/>
          </a:xfrm>
        </p:spPr>
        <p:txBody>
          <a:bodyPr anchor="t" anchorCtr="0"/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21" name="Rectangle 2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3" name="Rectangle 2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4" name="Straight Connector 2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" name="Rectangle 24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11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9" name="Rectangle 2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31" name="Straight Connector 3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2" name="Rectangle 31"/>
                <p:cNvSpPr/>
                <p:nvPr/>
              </p:nvSpPr>
              <p:spPr>
                <a:xfrm>
                  <a:off x="247157" y="1612392"/>
                  <a:ext cx="8622792" cy="64008"/>
                </a:xfrm>
                <a:prstGeom prst="rect">
                  <a:avLst/>
                </a:prstGeom>
                <a:solidFill>
                  <a:schemeClr val="bg2">
                    <a:lumMod val="40000"/>
                    <a:lumOff val="60000"/>
                  </a:schemeClr>
                </a:solidFill>
                <a:ln w="3175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</p:grpSp>
        </p:grpSp>
        <p:cxnSp>
          <p:nvCxnSpPr>
            <p:cNvPr id="23" name="Straight Connector 22"/>
            <p:cNvCxnSpPr/>
            <p:nvPr/>
          </p:nvCxnSpPr>
          <p:spPr>
            <a:xfrm rot="16200000" flipH="1">
              <a:off x="2217480" y="4026438"/>
              <a:ext cx="4711326" cy="2286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01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01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45539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45539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5" name="Rectangle 14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6" name="Straight Connector 15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7" name="Rectangle 16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1" name="Rectangle 1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3" name="Rectangle 1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4" name="Straight Connector 1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9" name="Rectangle 1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0" name="Straight Connector 19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33" name="Rectangle 32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169892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147888"/>
            <a:ext cx="3008313" cy="326231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, Picture,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grpSp>
            <p:nvGrpSpPr>
              <p:cNvPr id="27" name="Group 26"/>
              <p:cNvGrpSpPr/>
              <p:nvPr/>
            </p:nvGrpSpPr>
            <p:grpSpPr>
              <a:xfrm>
                <a:off x="182880" y="173699"/>
                <a:ext cx="8778240" cy="6510602"/>
                <a:chOff x="182880" y="173699"/>
                <a:chExt cx="8778240" cy="6510602"/>
              </a:xfrm>
            </p:grpSpPr>
            <p:sp>
              <p:nvSpPr>
                <p:cNvPr id="29" name="Rectangle 28"/>
                <p:cNvSpPr/>
                <p:nvPr/>
              </p:nvSpPr>
              <p:spPr>
                <a:xfrm>
                  <a:off x="182880" y="173699"/>
                  <a:ext cx="8778240" cy="651060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noFill/>
                </a:ln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scene3d>
                  <a:camera prst="perspectiveFront" fov="4800000"/>
                  <a:lightRig rig="threePt" dir="t"/>
                </a:scene3d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0" name="Group 10"/>
                <p:cNvGrpSpPr/>
                <p:nvPr/>
              </p:nvGrpSpPr>
              <p:grpSpPr>
                <a:xfrm>
                  <a:off x="256032" y="237744"/>
                  <a:ext cx="8622792" cy="6364224"/>
                  <a:chOff x="247157" y="247430"/>
                  <a:chExt cx="8622792" cy="6364224"/>
                </a:xfrm>
              </p:grpSpPr>
              <p:sp>
                <p:nvSpPr>
                  <p:cNvPr id="31" name="Rectangle 30"/>
                  <p:cNvSpPr>
                    <a:spLocks/>
                  </p:cNvSpPr>
                  <p:nvPr/>
                </p:nvSpPr>
                <p:spPr>
                  <a:xfrm>
                    <a:off x="247157" y="247430"/>
                    <a:ext cx="8622792" cy="6364224"/>
                  </a:xfrm>
                  <a:prstGeom prst="rect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cxnSp>
                <p:nvCxnSpPr>
                  <p:cNvPr id="32" name="Straight Connector 31"/>
                  <p:cNvCxnSpPr/>
                  <p:nvPr/>
                </p:nvCxnSpPr>
                <p:spPr>
                  <a:xfrm>
                    <a:off x="247157" y="6389024"/>
                    <a:ext cx="8622792" cy="1588"/>
                  </a:xfrm>
                  <a:prstGeom prst="line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sp>
            <p:nvSpPr>
              <p:cNvPr id="28" name="Rectangle 27"/>
              <p:cNvSpPr/>
              <p:nvPr/>
            </p:nvSpPr>
            <p:spPr>
              <a:xfrm rot="5400000">
                <a:off x="801086" y="3274090"/>
                <a:ext cx="6135624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10800000">
              <a:off x="258763" y="1594462"/>
              <a:ext cx="357530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694329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672323"/>
            <a:ext cx="3008313" cy="340304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352892" y="310123"/>
            <a:ext cx="3398837" cy="1204912"/>
          </a:xfrm>
        </p:spPr>
        <p:txBody>
          <a:bodyPr>
            <a:normAutofit/>
          </a:bodyPr>
          <a:lstStyle>
            <a:lvl1pPr>
              <a:buNone/>
              <a:defRPr sz="18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0" name="Rectangle 19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1" name="Straight Connector 2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7" name="Rectangle 16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691640"/>
            <a:ext cx="3008376" cy="914400"/>
          </a:xfrm>
        </p:spPr>
        <p:txBody>
          <a:bodyPr anchor="b">
            <a:no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38559" y="612775"/>
            <a:ext cx="4114800" cy="5468112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2" y="2670048"/>
            <a:ext cx="3008376" cy="34015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7" name="Group 16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2" name="Rectangle 21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3" name="Straight Connector 22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20" name="Rectangle 19"/>
            <p:cNvSpPr/>
            <p:nvPr/>
          </p:nvSpPr>
          <p:spPr>
            <a:xfrm>
              <a:off x="256032" y="4203192"/>
              <a:ext cx="8622792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1" y="4287819"/>
            <a:ext cx="8021977" cy="916193"/>
          </a:xfrm>
        </p:spPr>
        <p:txBody>
          <a:bodyPr anchor="b">
            <a:noAutofit/>
          </a:bodyPr>
          <a:lstStyle>
            <a:lvl1pPr algn="l">
              <a:defRPr sz="36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6347" y="331694"/>
            <a:ext cx="8421624" cy="37831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1" y="5271247"/>
            <a:ext cx="8021977" cy="101301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4" name="Rectangle 13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6" name="Rectangle 15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7" name="Straight Connector 16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" name="Rectangle 17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4" name="Group 13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7" name="Rectangle 16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8" name="Rectangle 17"/>
            <p:cNvSpPr/>
            <p:nvPr/>
          </p:nvSpPr>
          <p:spPr>
            <a:xfrm rot="5400000">
              <a:off x="4242277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399" y="609600"/>
            <a:ext cx="1416423" cy="5516563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222" y="609600"/>
            <a:ext cx="6279777" cy="5516563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13" y="244158"/>
            <a:ext cx="7345362" cy="1339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2" y="2133601"/>
            <a:ext cx="7345363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3840" y="6371591"/>
            <a:ext cx="2133600" cy="2593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</a:defRPr>
            </a:lvl1pPr>
          </a:lstStyle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8840" y="6371591"/>
            <a:ext cx="2895600" cy="257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1000" y="6356350"/>
            <a:ext cx="762000" cy="2714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8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2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794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80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366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2652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485900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712913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947863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174875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irk.barbi@awi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 smtClean="0"/>
              <a:t>esm</a:t>
            </a:r>
            <a:r>
              <a:rPr lang="de-DE" dirty="0" smtClean="0"/>
              <a:t>-environment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All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 in 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place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6976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smtClean="0"/>
              <a:t>Download </a:t>
            </a:r>
            <a:r>
              <a:rPr lang="de-DE" dirty="0" err="1" smtClean="0"/>
              <a:t>esm</a:t>
            </a:r>
            <a:r>
              <a:rPr lang="de-DE" dirty="0" smtClean="0"/>
              <a:t>-environment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dirty="0">
                <a:latin typeface="STIXNonUnicode-Regular"/>
                <a:cs typeface="STIXNonUnicode-Regular"/>
              </a:rPr>
              <a:t>'</a:t>
            </a:r>
            <a:r>
              <a:rPr lang="de-DE" i="1" dirty="0" err="1" smtClean="0">
                <a:latin typeface="STIXNonUnicode-Regular"/>
                <a:cs typeface="STIXNonUnicode-Regular"/>
              </a:rPr>
              <a:t>git</a:t>
            </a:r>
            <a:r>
              <a:rPr lang="de-DE" i="1" dirty="0" smtClean="0">
                <a:latin typeface="STIXNonUnicode-Regular"/>
                <a:cs typeface="STIXNonUnicode-Regular"/>
              </a:rPr>
              <a:t> </a:t>
            </a:r>
            <a:r>
              <a:rPr lang="de-DE" i="1" dirty="0" err="1" smtClean="0">
                <a:latin typeface="STIXNonUnicode-Regular"/>
                <a:cs typeface="STIXNonUnicode-Regular"/>
              </a:rPr>
              <a:t>clone</a:t>
            </a:r>
            <a:r>
              <a:rPr lang="de-DE" i="1" dirty="0" smtClean="0">
                <a:latin typeface="STIXNonUnicode-Regular"/>
                <a:cs typeface="STIXNonUnicode-Regular"/>
              </a:rPr>
              <a:t> https</a:t>
            </a:r>
            <a:r>
              <a:rPr lang="de-DE" i="1" dirty="0">
                <a:latin typeface="STIXNonUnicode-Regular"/>
                <a:cs typeface="STIXNonUnicode-Regular"/>
              </a:rPr>
              <a:t>//</a:t>
            </a:r>
            <a:r>
              <a:rPr lang="de-DE" i="1" dirty="0" err="1" smtClean="0">
                <a:latin typeface="STIXNonUnicode-Regular"/>
                <a:cs typeface="STIXNonUnicode-Regular"/>
              </a:rPr>
              <a:t>gitlab.dkrz.de</a:t>
            </a:r>
            <a:r>
              <a:rPr lang="de-DE" i="1" dirty="0" smtClean="0">
                <a:latin typeface="STIXNonUnicode-Regular"/>
                <a:cs typeface="STIXNonUnicode-Regular"/>
              </a:rPr>
              <a:t>/</a:t>
            </a:r>
            <a:r>
              <a:rPr lang="de-DE" i="1" dirty="0" err="1" smtClean="0">
                <a:latin typeface="STIXNonUnicode-Regular"/>
                <a:cs typeface="STIXNonUnicode-Regular"/>
              </a:rPr>
              <a:t>esm</a:t>
            </a:r>
            <a:r>
              <a:rPr lang="de-DE" i="1" dirty="0" smtClean="0">
                <a:latin typeface="STIXNonUnicode-Regular"/>
                <a:cs typeface="STIXNonUnicode-Regular"/>
              </a:rPr>
              <a:t>-tools/</a:t>
            </a:r>
            <a:r>
              <a:rPr lang="de-DE" i="1" dirty="0" err="1" smtClean="0">
                <a:latin typeface="STIXNonUnicode-Regular"/>
                <a:cs typeface="STIXNonUnicode-Regular"/>
              </a:rPr>
              <a:t>esm-environment.git</a:t>
            </a:r>
            <a:r>
              <a:rPr lang="de-DE" dirty="0">
                <a:latin typeface="STIXNonUnicode-Regular"/>
                <a:cs typeface="STIXNonUnicode-Regular"/>
              </a:rPr>
              <a:t>'</a:t>
            </a:r>
            <a:endParaRPr lang="de-DE" dirty="0" smtClean="0">
              <a:latin typeface="STIXNonUnicode-Regular"/>
              <a:cs typeface="STIXNonUnicode-Regular"/>
            </a:endParaRPr>
          </a:p>
          <a:p>
            <a:pPr marL="0" indent="0" algn="ctr">
              <a:buNone/>
            </a:pP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:</a:t>
            </a:r>
          </a:p>
          <a:p>
            <a:pPr marL="0" indent="0" algn="ctr">
              <a:buNone/>
            </a:pPr>
            <a:r>
              <a:rPr lang="de-DE" dirty="0"/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'</a:t>
            </a: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installation</a:t>
            </a:r>
            <a:r>
              <a:rPr lang="de-DE" dirty="0" smtClean="0"/>
              <a:t> /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required</a:t>
            </a:r>
            <a:r>
              <a:rPr lang="de-DE" dirty="0" smtClean="0"/>
              <a:t>.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esm</a:t>
            </a:r>
            <a:r>
              <a:rPr lang="de-DE" dirty="0" smtClean="0"/>
              <a:t>-environment was </a:t>
            </a:r>
            <a:r>
              <a:rPr lang="de-DE" dirty="0" err="1" smtClean="0"/>
              <a:t>originally</a:t>
            </a:r>
            <a:r>
              <a:rPr lang="de-DE" dirty="0" smtClean="0"/>
              <a:t> </a:t>
            </a:r>
            <a:r>
              <a:rPr lang="de-DE" dirty="0" err="1" smtClean="0"/>
              <a:t>based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cmake</a:t>
            </a:r>
            <a:r>
              <a:rPr lang="de-DE" dirty="0" smtClean="0"/>
              <a:t>-</a:t>
            </a:r>
            <a:r>
              <a:rPr lang="de-DE" dirty="0" err="1" smtClean="0"/>
              <a:t>build</a:t>
            </a:r>
            <a:r>
              <a:rPr lang="de-DE" dirty="0" smtClean="0"/>
              <a:t>-environment </a:t>
            </a:r>
            <a:r>
              <a:rPr lang="de-DE" dirty="0" err="1" smtClean="0"/>
              <a:t>developed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Jan Hegewald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awicm</a:t>
            </a:r>
            <a:r>
              <a:rPr lang="de-DE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852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Machines </a:t>
            </a:r>
            <a:r>
              <a:rPr lang="de-DE" dirty="0" err="1" smtClean="0"/>
              <a:t>supported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550822" y="2114886"/>
            <a:ext cx="7205494" cy="3931920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</a:pPr>
            <a:r>
              <a:rPr lang="de-DE" dirty="0" err="1" smtClean="0"/>
              <a:t>ollie</a:t>
            </a:r>
            <a:r>
              <a:rPr lang="de-DE" dirty="0" smtClean="0"/>
              <a:t> &amp; </a:t>
            </a:r>
            <a:r>
              <a:rPr lang="de-DE" dirty="0" err="1" smtClean="0"/>
              <a:t>mistral</a:t>
            </a:r>
            <a:r>
              <a:rPr lang="de-DE" dirty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all </a:t>
            </a:r>
            <a:r>
              <a:rPr lang="de-DE" dirty="0" err="1" smtClean="0"/>
              <a:t>models</a:t>
            </a:r>
            <a:endParaRPr lang="de-DE" dirty="0"/>
          </a:p>
          <a:p>
            <a:pPr>
              <a:spcBef>
                <a:spcPts val="200"/>
              </a:spcBef>
            </a:pPr>
            <a:r>
              <a:rPr lang="de-DE" dirty="0" err="1" smtClean="0"/>
              <a:t>hlrn</a:t>
            </a:r>
            <a:r>
              <a:rPr lang="de-DE" dirty="0" smtClean="0"/>
              <a:t> / </a:t>
            </a:r>
            <a:r>
              <a:rPr lang="de-DE" dirty="0" err="1" smtClean="0"/>
              <a:t>hazelhen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awicm</a:t>
            </a:r>
            <a:r>
              <a:rPr lang="de-DE" dirty="0" smtClean="0"/>
              <a:t> / </a:t>
            </a:r>
            <a:r>
              <a:rPr lang="de-DE" dirty="0" err="1" smtClean="0"/>
              <a:t>fesom</a:t>
            </a:r>
            <a:r>
              <a:rPr lang="de-DE" dirty="0" smtClean="0"/>
              <a:t> / </a:t>
            </a:r>
            <a:r>
              <a:rPr lang="de-DE" dirty="0" err="1" smtClean="0"/>
              <a:t>echam</a:t>
            </a:r>
            <a:endParaRPr lang="de-DE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328" y="3019349"/>
            <a:ext cx="5472932" cy="3281746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113002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Integration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-tools: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5" y="2114886"/>
            <a:ext cx="8038421" cy="3931920"/>
          </a:xfrm>
        </p:spPr>
        <p:txBody>
          <a:bodyPr>
            <a:normAutofit/>
          </a:bodyPr>
          <a:lstStyle/>
          <a:p>
            <a:pPr>
              <a:spcBef>
                <a:spcPts val="800"/>
              </a:spcBef>
            </a:pPr>
            <a:r>
              <a:rPr lang="de-DE" sz="2000" dirty="0" err="1" smtClean="0">
                <a:ea typeface="STIXNonUnicode-Regular" charset="0"/>
                <a:cs typeface="STIXNonUnicode-Regular" charset="0"/>
              </a:rPr>
              <a:t>With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sz="2000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:</a:t>
            </a:r>
            <a:endParaRPr lang="de-DE" sz="2000" dirty="0">
              <a:ea typeface="STIXNonUnicode-Regular" charset="0"/>
              <a:cs typeface="STIXNonUnicode-Regular" charset="0"/>
            </a:endParaRPr>
          </a:p>
          <a:p>
            <a:pPr marL="0" indent="0">
              <a:spcBef>
                <a:spcPts val="800"/>
              </a:spcBef>
              <a:buNone/>
            </a:pPr>
            <a:r>
              <a:rPr lang="de-DE" sz="2000" dirty="0" smtClean="0">
                <a:ea typeface="STIXNonUnicode-Regular" charset="0"/>
                <a:cs typeface="STIXNonUnicode-Regular" charset="0"/>
              </a:rPr>
              <a:t>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If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sz="2000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present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-master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compiles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using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these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machine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setting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.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If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not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present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-master will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try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to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compile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with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model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defined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settings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.</a:t>
            </a:r>
          </a:p>
          <a:p>
            <a:pPr>
              <a:spcBef>
                <a:spcPts val="800"/>
              </a:spcBef>
            </a:pPr>
            <a:r>
              <a:rPr lang="de-DE" sz="2000" dirty="0" err="1" smtClean="0">
                <a:ea typeface="STIXNonUnicode-Regular" charset="0"/>
                <a:cs typeface="STIXNonUnicode-Regular" charset="0"/>
              </a:rPr>
              <a:t>With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esm-runscripts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: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de-DE" sz="2000" dirty="0">
                <a:ea typeface="STIXNonUnicode-Regular" charset="0"/>
                <a:cs typeface="STIXNonUnicode-Regular" charset="0"/>
              </a:rPr>
              <a:t>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If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sz="2000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present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esm-runscripts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will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up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runs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according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to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these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setting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if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not,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it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will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use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some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(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probably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not 	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up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to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-date)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defaults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02854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-environment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without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104595" y="2114886"/>
            <a:ext cx="6868974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Make</a:t>
            </a:r>
            <a:r>
              <a:rPr lang="de-DE" dirty="0" smtClean="0"/>
              <a:t> </a:t>
            </a:r>
            <a:r>
              <a:rPr lang="de-DE" dirty="0" err="1" smtClean="0"/>
              <a:t>tools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/>
              <a:t> </a:t>
            </a:r>
            <a:r>
              <a:rPr lang="de-DE" dirty="0" err="1" smtClean="0"/>
              <a:t>some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/>
              <a:t> </a:t>
            </a:r>
            <a:r>
              <a:rPr lang="de-DE" dirty="0" err="1" smtClean="0"/>
              <a:t>been</a:t>
            </a:r>
            <a:r>
              <a:rPr lang="de-DE" dirty="0" smtClean="0"/>
              <a:t> </a:t>
            </a:r>
            <a:r>
              <a:rPr lang="de-DE" dirty="0" err="1" smtClean="0"/>
              <a:t>prepared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skip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depending</a:t>
            </a:r>
            <a:r>
              <a:rPr lang="de-DE" dirty="0" smtClean="0"/>
              <a:t> variables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was </a:t>
            </a:r>
            <a:r>
              <a:rPr lang="de-DE" dirty="0" err="1" smtClean="0"/>
              <a:t>already</a:t>
            </a:r>
            <a:r>
              <a:rPr lang="de-DE" dirty="0" smtClean="0"/>
              <a:t> </a:t>
            </a:r>
            <a:r>
              <a:rPr lang="de-DE" dirty="0" err="1" smtClean="0"/>
              <a:t>done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 (</a:t>
            </a:r>
            <a:r>
              <a:rPr lang="de-DE" dirty="0" err="1" smtClean="0"/>
              <a:t>works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awicm</a:t>
            </a:r>
            <a:r>
              <a:rPr lang="de-DE" dirty="0" smtClean="0"/>
              <a:t>, </a:t>
            </a:r>
            <a:r>
              <a:rPr lang="de-DE" dirty="0" err="1" smtClean="0"/>
              <a:t>fesom</a:t>
            </a:r>
            <a:r>
              <a:rPr lang="de-DE" dirty="0" smtClean="0"/>
              <a:t>, </a:t>
            </a:r>
            <a:r>
              <a:rPr lang="de-DE" dirty="0" err="1" smtClean="0"/>
              <a:t>echam</a:t>
            </a:r>
            <a:r>
              <a:rPr lang="de-DE" dirty="0" smtClean="0"/>
              <a:t> </a:t>
            </a:r>
            <a:r>
              <a:rPr lang="de-DE" dirty="0" err="1" smtClean="0"/>
              <a:t>standalone</a:t>
            </a:r>
            <a:r>
              <a:rPr lang="de-DE" dirty="0" smtClean="0"/>
              <a:t>).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054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 smtClean="0"/>
              <a:t>Learn</a:t>
            </a:r>
            <a:r>
              <a:rPr lang="de-DE" dirty="0" smtClean="0"/>
              <a:t> </a:t>
            </a:r>
            <a:r>
              <a:rPr lang="de-DE" dirty="0" err="1" smtClean="0"/>
              <a:t>more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Check out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the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documentation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available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by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typing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get-esm-usermanual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or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clone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https://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gitlab.dkrz.de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-tools/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esm-usermanual.git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2029313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More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>
              <a:spcBef>
                <a:spcPts val="800"/>
              </a:spcBef>
            </a:pPr>
            <a:r>
              <a:rPr lang="de-DE" dirty="0" smtClean="0">
                <a:ea typeface="STIXNonUnicode-Regular" charset="0"/>
                <a:cs typeface="STIXNonUnicode-Regular" charset="0"/>
              </a:rPr>
              <a:t>Support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more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machines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(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currently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ollie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and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mistral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everything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hlrn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/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hlrs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awicm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/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fesom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/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echam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)</a:t>
            </a:r>
          </a:p>
          <a:p>
            <a:pPr>
              <a:spcBef>
                <a:spcPts val="800"/>
              </a:spcBef>
            </a:pPr>
            <a:r>
              <a:rPr lang="de-DE" dirty="0" err="1" smtClean="0">
                <a:ea typeface="STIXNonUnicode-Regular" charset="0"/>
                <a:cs typeface="STIXNonUnicode-Regular" charset="0"/>
              </a:rPr>
              <a:t>Full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integration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on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model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side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(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mpiesm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)</a:t>
            </a:r>
            <a:endParaRPr lang="de-DE" dirty="0" smtClean="0"/>
          </a:p>
          <a:p>
            <a:pPr>
              <a:spcBef>
                <a:spcPts val="800"/>
              </a:spcBef>
            </a:pPr>
            <a:r>
              <a:rPr lang="de-DE" dirty="0" err="1" smtClean="0"/>
              <a:t>any</a:t>
            </a:r>
            <a:r>
              <a:rPr lang="de-DE" dirty="0" smtClean="0"/>
              <a:t> </a:t>
            </a:r>
            <a:r>
              <a:rPr lang="de-DE" dirty="0" err="1" smtClean="0"/>
              <a:t>ideas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r>
              <a:rPr lang="de-DE" dirty="0" smtClean="0"/>
              <a:t> (</a:t>
            </a:r>
            <a:r>
              <a:rPr lang="de-DE" dirty="0" err="1" smtClean="0"/>
              <a:t>Please</a:t>
            </a:r>
            <a:r>
              <a:rPr lang="de-DE" dirty="0" smtClean="0"/>
              <a:t> </a:t>
            </a:r>
            <a:r>
              <a:rPr lang="de-DE" dirty="0" err="1" smtClean="0"/>
              <a:t>let</a:t>
            </a:r>
            <a:r>
              <a:rPr lang="de-DE" dirty="0" smtClean="0"/>
              <a:t> </a:t>
            </a:r>
            <a:r>
              <a:rPr lang="de-DE" dirty="0" err="1" smtClean="0"/>
              <a:t>me</a:t>
            </a:r>
            <a:r>
              <a:rPr lang="de-DE" dirty="0" smtClean="0"/>
              <a:t> </a:t>
            </a:r>
            <a:r>
              <a:rPr lang="de-DE" dirty="0" err="1" smtClean="0"/>
              <a:t>know</a:t>
            </a:r>
            <a:r>
              <a:rPr lang="de-DE" dirty="0" smtClean="0"/>
              <a:t>, </a:t>
            </a:r>
            <a:r>
              <a:rPr lang="de-DE" dirty="0" smtClean="0">
                <a:solidFill>
                  <a:schemeClr val="accent3"/>
                </a:solidFill>
                <a:hlinkClick r:id="rId2"/>
              </a:rPr>
              <a:t>dirk.barbi@awi.de</a:t>
            </a:r>
            <a:r>
              <a:rPr lang="de-DE" dirty="0" smtClean="0"/>
              <a:t>, -1561)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7478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Capital">
  <a:themeElements>
    <a:clrScheme name="Custom 3">
      <a:dk1>
        <a:srgbClr val="000000"/>
      </a:dk1>
      <a:lt1>
        <a:srgbClr val="FFFFFF"/>
      </a:lt1>
      <a:dk2>
        <a:srgbClr val="7C9BA5"/>
      </a:dk2>
      <a:lt2>
        <a:srgbClr val="A895D0"/>
      </a:lt2>
      <a:accent1>
        <a:srgbClr val="F2D908"/>
      </a:accent1>
      <a:accent2>
        <a:srgbClr val="9DE61E"/>
      </a:accent2>
      <a:accent3>
        <a:srgbClr val="0D8BE6"/>
      </a:accent3>
      <a:accent4>
        <a:srgbClr val="C61B1B"/>
      </a:accent4>
      <a:accent5>
        <a:srgbClr val="E26F08"/>
      </a:accent5>
      <a:accent6>
        <a:srgbClr val="8D35D1"/>
      </a:accent6>
      <a:hlink>
        <a:srgbClr val="1F93EC"/>
      </a:hlink>
      <a:folHlink>
        <a:srgbClr val="0D00F4"/>
      </a:folHlink>
    </a:clrScheme>
    <a:fontScheme name="Capital">
      <a:majorFont>
        <a:latin typeface="Calisto MT"/>
        <a:ea typeface=""/>
        <a:cs typeface=""/>
        <a:font script="Jpan" typeface="ＭＳ 明朝"/>
        <a:font script="Hans" typeface="宋体"/>
        <a:font script="Hant" typeface="新細明體"/>
      </a:majorFont>
      <a:minorFont>
        <a:latin typeface="Calisto MT"/>
        <a:ea typeface=""/>
        <a:cs typeface=""/>
        <a:font script="Jpan" typeface="ＭＳ 明朝"/>
        <a:font script="Hans" typeface="宋体"/>
        <a:font script="Hant" typeface="新細明體"/>
      </a:minorFont>
    </a:fontScheme>
    <a:fmtScheme name="Capital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atMod val="150000"/>
                <a:lumMod val="50000"/>
              </a:schemeClr>
              <a:schemeClr val="phClr">
                <a:satMod val="300000"/>
                <a:lumMod val="125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atMod val="135000"/>
                <a:lumMod val="80000"/>
              </a:schemeClr>
              <a:schemeClr val="phClr">
                <a:satMod val="250000"/>
                <a:lumMod val="150000"/>
              </a:schemeClr>
            </a:duotone>
          </a:blip>
          <a:stretch/>
        </a:blip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1750" cap="flat" cmpd="sng" algn="ctr">
          <a:solidFill>
            <a:schemeClr val="phClr">
              <a:shade val="90000"/>
            </a:schemeClr>
          </a:solidFill>
          <a:prstDash val="solid"/>
        </a:ln>
        <a:ln w="44450" cap="flat" cmpd="sng" algn="ctr">
          <a:solidFill>
            <a:schemeClr val="phClr">
              <a:shade val="85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sx="101000" sy="101000" algn="ctr" rotWithShape="0">
              <a:srgbClr val="000000">
                <a:alpha val="40000"/>
              </a:srgbClr>
            </a:outerShdw>
          </a:effectLst>
          <a:scene3d>
            <a:camera prst="perspectiveFront" fov="3000000"/>
            <a:lightRig rig="threePt" dir="tl"/>
          </a:scene3d>
          <a:sp3d>
            <a:bevelT w="0" h="0"/>
          </a:sp3d>
        </a:effectStyle>
        <a:effectStyle>
          <a:effectLst>
            <a:innerShdw blurRad="190500">
              <a:srgbClr val="000000">
                <a:alpha val="50000"/>
              </a:srgbClr>
            </a:innerShdw>
          </a:effectLst>
          <a:scene3d>
            <a:camera prst="perspectiveFront" fov="4800000"/>
            <a:lightRig rig="twoPt" dir="t">
              <a:rot lat="0" lon="0" rev="4800000"/>
            </a:lightRig>
          </a:scene3d>
          <a:sp3d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3">
            <a:duotone>
              <a:schemeClr val="phClr">
                <a:satMod val="150000"/>
                <a:lumMod val="50000"/>
              </a:schemeClr>
              <a:schemeClr val="phClr">
                <a:satMod val="400000"/>
                <a:lumMod val="16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Theia.thmx</Template>
  <TotalTime>1687</TotalTime>
  <Words>170</Words>
  <Application>Microsoft Macintosh PowerPoint</Application>
  <PresentationFormat>On-screen Show (4:3)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Brush Script MT</vt:lpstr>
      <vt:lpstr>Calisto MT</vt:lpstr>
      <vt:lpstr>STIXNonUnicode-Regular</vt:lpstr>
      <vt:lpstr>Arial</vt:lpstr>
      <vt:lpstr>Capital</vt:lpstr>
      <vt:lpstr>esm-environment</vt:lpstr>
      <vt:lpstr>Download esm-environment</vt:lpstr>
      <vt:lpstr>Machines supported:</vt:lpstr>
      <vt:lpstr>Integration with esm-tools:</vt:lpstr>
      <vt:lpstr>Use esm-environment to compile without esm-master</vt:lpstr>
      <vt:lpstr>Learn more:</vt:lpstr>
      <vt:lpstr>More to come:</vt:lpstr>
    </vt:vector>
  </TitlesOfParts>
  <Company/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esm-master</dc:title>
  <dc:creator>Dirk Barbi</dc:creator>
  <cp:lastModifiedBy>Microsoft Office User</cp:lastModifiedBy>
  <cp:revision>20</cp:revision>
  <dcterms:created xsi:type="dcterms:W3CDTF">2018-06-14T14:28:16Z</dcterms:created>
  <dcterms:modified xsi:type="dcterms:W3CDTF">2018-06-19T11:12:00Z</dcterms:modified>
</cp:coreProperties>
</file>