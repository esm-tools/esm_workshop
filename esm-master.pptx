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8" r:id="rId10"/>
    <p:sldId id="267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8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1992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486873" y="411480"/>
            <a:ext cx="8170254" cy="6035040"/>
            <a:chOff x="486873" y="411480"/>
            <a:chExt cx="8170254" cy="6035040"/>
          </a:xfrm>
        </p:grpSpPr>
        <p:sp>
          <p:nvSpPr>
            <p:cNvPr id="8" name="Rectangle 7"/>
            <p:cNvSpPr/>
            <p:nvPr/>
          </p:nvSpPr>
          <p:spPr>
            <a:xfrm>
              <a:off x="486873" y="411480"/>
              <a:ext cx="8170254" cy="6035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>
              <a:spLocks/>
            </p:cNvSpPr>
            <p:nvPr/>
          </p:nvSpPr>
          <p:spPr>
            <a:xfrm>
              <a:off x="562843" y="475488"/>
              <a:ext cx="7982712" cy="5888736"/>
            </a:xfrm>
            <a:prstGeom prst="rect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5" name="Straight Connector 14"/>
            <p:cNvCxnSpPr/>
            <p:nvPr/>
          </p:nvCxnSpPr>
          <p:spPr>
            <a:xfrm>
              <a:off x="562842" y="6133646"/>
              <a:ext cx="7982712" cy="1472"/>
            </a:xfrm>
            <a:prstGeom prst="line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angle 16"/>
            <p:cNvSpPr/>
            <p:nvPr/>
          </p:nvSpPr>
          <p:spPr>
            <a:xfrm>
              <a:off x="562843" y="457200"/>
              <a:ext cx="7982712" cy="25786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3950"/>
            <a:ext cx="7342188" cy="1924050"/>
          </a:xfrm>
        </p:spPr>
        <p:txBody>
          <a:bodyPr anchor="b" anchorCtr="0">
            <a:noAutofit/>
          </a:bodyPr>
          <a:lstStyle>
            <a:lvl1pPr>
              <a:defRPr sz="54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429000"/>
            <a:ext cx="7342188" cy="175260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tx1">
                  <a:lumMod val="75000"/>
                  <a:lumOff val="25000"/>
                </a:schemeClr>
              </a:buClr>
              <a:buFont typeface="Arial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3741" y="6122894"/>
            <a:ext cx="2133600" cy="259317"/>
          </a:xfrm>
        </p:spPr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38800" y="6122894"/>
            <a:ext cx="2895600" cy="25781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191000" y="6122894"/>
            <a:ext cx="762000" cy="271463"/>
          </a:xfrm>
        </p:spPr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3" name="Rectangle 12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9" name="Rectangle 18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0" name="Straight Connector 19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1" name="Rectangle 20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486873" y="411480"/>
            <a:ext cx="8170254" cy="6035040"/>
            <a:chOff x="486873" y="411480"/>
            <a:chExt cx="8170254" cy="6035040"/>
          </a:xfrm>
        </p:grpSpPr>
        <p:sp>
          <p:nvSpPr>
            <p:cNvPr id="12" name="Rectangle 11"/>
            <p:cNvSpPr/>
            <p:nvPr/>
          </p:nvSpPr>
          <p:spPr>
            <a:xfrm>
              <a:off x="486873" y="411480"/>
              <a:ext cx="8170254" cy="6035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11"/>
            <p:cNvGrpSpPr/>
            <p:nvPr/>
          </p:nvGrpSpPr>
          <p:grpSpPr>
            <a:xfrm>
              <a:off x="562842" y="475488"/>
              <a:ext cx="7982713" cy="5888736"/>
              <a:chOff x="562842" y="475488"/>
              <a:chExt cx="7982713" cy="5888736"/>
            </a:xfrm>
          </p:grpSpPr>
          <p:sp>
            <p:nvSpPr>
              <p:cNvPr id="8" name="Rectangle 7"/>
              <p:cNvSpPr>
                <a:spLocks/>
              </p:cNvSpPr>
              <p:nvPr/>
            </p:nvSpPr>
            <p:spPr>
              <a:xfrm>
                <a:off x="562843" y="475488"/>
                <a:ext cx="7982712" cy="5888736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9" name="Straight Connector 8"/>
              <p:cNvCxnSpPr/>
              <p:nvPr/>
            </p:nvCxnSpPr>
            <p:spPr>
              <a:xfrm>
                <a:off x="562842" y="6133646"/>
                <a:ext cx="7982712" cy="1472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>
                <a:off x="562842" y="3427528"/>
                <a:ext cx="7982712" cy="1472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0113" y="3442447"/>
            <a:ext cx="7345362" cy="1532965"/>
          </a:xfrm>
        </p:spPr>
        <p:txBody>
          <a:bodyPr anchor="b" anchorCtr="0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0113" y="5029200"/>
            <a:ext cx="7345362" cy="990600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9259" y="6122894"/>
            <a:ext cx="2133600" cy="259317"/>
          </a:xfrm>
        </p:spPr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38800" y="6124401"/>
            <a:ext cx="2895600" cy="25781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/>
          </p:nvPr>
        </p:nvSpPr>
        <p:spPr>
          <a:xfrm>
            <a:off x="636493" y="533400"/>
            <a:ext cx="7836408" cy="2828925"/>
          </a:xfrm>
        </p:spPr>
        <p:txBody>
          <a:bodyPr>
            <a:normAutofit/>
          </a:bodyPr>
          <a:lstStyle>
            <a:lvl1pPr>
              <a:buNone/>
              <a:defRPr sz="2000"/>
            </a:lvl1pPr>
          </a:lstStyle>
          <a:p>
            <a:r>
              <a:rPr lang="en-US" smtClean="0"/>
              <a:t>Click icon to add picture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2" name="Rectangle 11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27" name="Rectangle 26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8" name="Straight Connector 27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113" y="1371600"/>
            <a:ext cx="7345362" cy="1676400"/>
          </a:xfrm>
        </p:spPr>
        <p:txBody>
          <a:bodyPr anchor="b" anchorCtr="0">
            <a:noAutofit/>
          </a:bodyPr>
          <a:lstStyle>
            <a:lvl1pPr algn="ctr">
              <a:defRPr sz="5400" b="0" i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13" y="3134566"/>
            <a:ext cx="7345362" cy="1500187"/>
          </a:xfrm>
        </p:spPr>
        <p:txBody>
          <a:bodyPr anchor="t" anchorCtr="0"/>
          <a:lstStyle>
            <a:lvl1pPr marL="0" indent="0" algn="ctr">
              <a:spcBef>
                <a:spcPts val="3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21" name="Rectangle 20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23" name="Rectangle 22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4" name="Straight Connector 23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" name="Rectangle 24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0111" y="2147888"/>
            <a:ext cx="3566160" cy="39274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2147888"/>
            <a:ext cx="3566160" cy="39274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26" name="Group 2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27" name="Rectangle 26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8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9" name="Rectangle 28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31" name="Straight Connector 30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2" name="Rectangle 31"/>
                <p:cNvSpPr/>
                <p:nvPr/>
              </p:nvSpPr>
              <p:spPr>
                <a:xfrm>
                  <a:off x="247157" y="1612392"/>
                  <a:ext cx="8622792" cy="64008"/>
                </a:xfrm>
                <a:prstGeom prst="rect">
                  <a:avLst/>
                </a:prstGeom>
                <a:solidFill>
                  <a:schemeClr val="bg2">
                    <a:lumMod val="40000"/>
                    <a:lumOff val="60000"/>
                  </a:schemeClr>
                </a:solidFill>
                <a:ln w="3175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</p:grpSp>
        </p:grpSp>
        <p:cxnSp>
          <p:nvCxnSpPr>
            <p:cNvPr id="23" name="Straight Connector 22"/>
            <p:cNvCxnSpPr/>
            <p:nvPr/>
          </p:nvCxnSpPr>
          <p:spPr>
            <a:xfrm rot="16200000" flipH="1">
              <a:off x="2217480" y="4026438"/>
              <a:ext cx="4711326" cy="2286"/>
            </a:xfrm>
            <a:prstGeom prst="line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01" y="1708990"/>
            <a:ext cx="3566160" cy="832503"/>
          </a:xfrm>
        </p:spPr>
        <p:txBody>
          <a:bodyPr anchor="ctr" anchorCtr="0">
            <a:noAutofit/>
          </a:bodyPr>
          <a:lstStyle>
            <a:lvl1pPr marL="0" indent="0" algn="ctr">
              <a:spcBef>
                <a:spcPts val="300"/>
              </a:spcBef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301" y="2590801"/>
            <a:ext cx="3566160" cy="348456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45539" y="1708990"/>
            <a:ext cx="3566160" cy="832503"/>
          </a:xfrm>
        </p:spPr>
        <p:txBody>
          <a:bodyPr anchor="ctr" anchorCtr="0">
            <a:noAutofit/>
          </a:bodyPr>
          <a:lstStyle>
            <a:lvl1pPr marL="0" indent="0" algn="ctr">
              <a:spcBef>
                <a:spcPts val="300"/>
              </a:spcBef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45539" y="2590801"/>
            <a:ext cx="3566160" cy="348456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3" name="Rectangle 12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5" name="Rectangle 14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6" name="Straight Connector 15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7" name="Rectangle 16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1" name="Rectangle 10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3" name="Rectangle 12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4" name="Straight Connector 13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6" name="Group 1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7" name="Rectangle 16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19" name="Rectangle 18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0" name="Straight Connector 19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33" name="Rectangle 32"/>
            <p:cNvSpPr/>
            <p:nvPr/>
          </p:nvSpPr>
          <p:spPr>
            <a:xfrm rot="5400000">
              <a:off x="801086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225" y="1169892"/>
            <a:ext cx="3008313" cy="9144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8319" y="609600"/>
            <a:ext cx="4114800" cy="5465763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200" baseline="0"/>
            </a:lvl2pPr>
            <a:lvl3pPr>
              <a:defRPr sz="2000" baseline="0"/>
            </a:lvl3pPr>
            <a:lvl4pPr>
              <a:defRPr sz="1800" baseline="0"/>
            </a:lvl4pPr>
            <a:lvl5pPr>
              <a:defRPr sz="18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225" y="2147888"/>
            <a:ext cx="3008313" cy="326231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, Picture,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26" name="Group 2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grpSp>
            <p:nvGrpSpPr>
              <p:cNvPr id="27" name="Group 26"/>
              <p:cNvGrpSpPr/>
              <p:nvPr/>
            </p:nvGrpSpPr>
            <p:grpSpPr>
              <a:xfrm>
                <a:off x="182880" y="173699"/>
                <a:ext cx="8778240" cy="6510602"/>
                <a:chOff x="182880" y="173699"/>
                <a:chExt cx="8778240" cy="6510602"/>
              </a:xfrm>
            </p:grpSpPr>
            <p:sp>
              <p:nvSpPr>
                <p:cNvPr id="29" name="Rectangle 28"/>
                <p:cNvSpPr/>
                <p:nvPr/>
              </p:nvSpPr>
              <p:spPr>
                <a:xfrm>
                  <a:off x="182880" y="173699"/>
                  <a:ext cx="8778240" cy="6510602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2700">
                  <a:noFill/>
                </a:ln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scene3d>
                  <a:camera prst="perspectiveFront" fov="4800000"/>
                  <a:lightRig rig="threePt" dir="t"/>
                </a:scene3d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0" name="Group 10"/>
                <p:cNvGrpSpPr/>
                <p:nvPr/>
              </p:nvGrpSpPr>
              <p:grpSpPr>
                <a:xfrm>
                  <a:off x="256032" y="237744"/>
                  <a:ext cx="8622792" cy="6364224"/>
                  <a:chOff x="247157" y="247430"/>
                  <a:chExt cx="8622792" cy="6364224"/>
                </a:xfrm>
              </p:grpSpPr>
              <p:sp>
                <p:nvSpPr>
                  <p:cNvPr id="31" name="Rectangle 30"/>
                  <p:cNvSpPr>
                    <a:spLocks/>
                  </p:cNvSpPr>
                  <p:nvPr/>
                </p:nvSpPr>
                <p:spPr>
                  <a:xfrm>
                    <a:off x="247157" y="247430"/>
                    <a:ext cx="8622792" cy="6364224"/>
                  </a:xfrm>
                  <a:prstGeom prst="rect">
                    <a:avLst/>
                  </a:prstGeom>
                  <a:noFill/>
                  <a:ln w="12700">
                    <a:solidFill>
                      <a:schemeClr val="tx2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cxnSp>
                <p:nvCxnSpPr>
                  <p:cNvPr id="32" name="Straight Connector 31"/>
                  <p:cNvCxnSpPr/>
                  <p:nvPr/>
                </p:nvCxnSpPr>
                <p:spPr>
                  <a:xfrm>
                    <a:off x="247157" y="6389024"/>
                    <a:ext cx="8622792" cy="1588"/>
                  </a:xfrm>
                  <a:prstGeom prst="line">
                    <a:avLst/>
                  </a:prstGeom>
                  <a:noFill/>
                  <a:ln w="12700">
                    <a:solidFill>
                      <a:schemeClr val="tx2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sp>
            <p:nvSpPr>
              <p:cNvPr id="28" name="Rectangle 27"/>
              <p:cNvSpPr/>
              <p:nvPr/>
            </p:nvSpPr>
            <p:spPr>
              <a:xfrm rot="5400000">
                <a:off x="801086" y="3274090"/>
                <a:ext cx="6135624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25" name="Rectangle 24"/>
            <p:cNvSpPr/>
            <p:nvPr/>
          </p:nvSpPr>
          <p:spPr>
            <a:xfrm rot="10800000">
              <a:off x="258763" y="1594462"/>
              <a:ext cx="357530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225" y="1694329"/>
            <a:ext cx="3008313" cy="9144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8319" y="609600"/>
            <a:ext cx="4114800" cy="5465763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200" baseline="0"/>
            </a:lvl2pPr>
            <a:lvl3pPr>
              <a:defRPr sz="2000" baseline="0"/>
            </a:lvl3pPr>
            <a:lvl4pPr>
              <a:defRPr sz="1800" baseline="0"/>
            </a:lvl4pPr>
            <a:lvl5pPr>
              <a:defRPr sz="18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225" y="2672323"/>
            <a:ext cx="3008313" cy="340304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3"/>
          </p:nvPr>
        </p:nvSpPr>
        <p:spPr>
          <a:xfrm>
            <a:off x="352892" y="310123"/>
            <a:ext cx="3398837" cy="1204912"/>
          </a:xfrm>
        </p:spPr>
        <p:txBody>
          <a:bodyPr>
            <a:normAutofit/>
          </a:bodyPr>
          <a:lstStyle>
            <a:lvl1pPr>
              <a:buNone/>
              <a:defRPr sz="1800"/>
            </a:lvl1pPr>
          </a:lstStyle>
          <a:p>
            <a:r>
              <a:rPr lang="en-US" smtClean="0"/>
              <a:t>Click icon to add picture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6" name="Group 1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0" name="Rectangle 19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1" name="Straight Connector 20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17" name="Rectangle 16"/>
            <p:cNvSpPr/>
            <p:nvPr/>
          </p:nvSpPr>
          <p:spPr>
            <a:xfrm rot="5400000">
              <a:off x="801086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691640"/>
            <a:ext cx="3008376" cy="914400"/>
          </a:xfrm>
        </p:spPr>
        <p:txBody>
          <a:bodyPr anchor="b">
            <a:no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38559" y="612775"/>
            <a:ext cx="4114800" cy="5468112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352" y="2670048"/>
            <a:ext cx="3008376" cy="340156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2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abov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7" name="Group 16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2" name="Rectangle 21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3" name="Straight Connector 22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20" name="Rectangle 19"/>
            <p:cNvSpPr/>
            <p:nvPr/>
          </p:nvSpPr>
          <p:spPr>
            <a:xfrm>
              <a:off x="256032" y="4203192"/>
              <a:ext cx="8622792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1" y="4287819"/>
            <a:ext cx="8021977" cy="916193"/>
          </a:xfrm>
        </p:spPr>
        <p:txBody>
          <a:bodyPr anchor="b">
            <a:noAutofit/>
          </a:bodyPr>
          <a:lstStyle>
            <a:lvl1pPr algn="l">
              <a:defRPr sz="36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6347" y="331694"/>
            <a:ext cx="8421624" cy="378310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351" y="5271247"/>
            <a:ext cx="8021977" cy="101301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spcBef>
                <a:spcPts val="0"/>
              </a:spcBef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2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4" name="Rectangle 13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6" name="Rectangle 15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7" name="Straight Connector 16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" name="Rectangle 17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4" name="Group 13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5" name="Rectangle 14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17" name="Rectangle 16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19" name="Straight Connector 18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18" name="Rectangle 17"/>
            <p:cNvSpPr/>
            <p:nvPr/>
          </p:nvSpPr>
          <p:spPr>
            <a:xfrm rot="5400000">
              <a:off x="4242277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91399" y="609600"/>
            <a:ext cx="1416423" cy="5516563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222" y="609600"/>
            <a:ext cx="6279777" cy="5516563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0113" y="244158"/>
            <a:ext cx="7345362" cy="1339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12" y="2133601"/>
            <a:ext cx="7345363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3840" y="6371591"/>
            <a:ext cx="2133600" cy="2593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>
                    <a:lumMod val="60000"/>
                    <a:lumOff val="40000"/>
                  </a:schemeClr>
                </a:solidFill>
                <a:latin typeface="Brush Script MT" pitchFamily="66" charset="0"/>
              </a:defRPr>
            </a:lvl1pPr>
          </a:lstStyle>
          <a:p>
            <a:fld id="{7D290233-0DD1-4A80-BB1E-9ADC3556DBB6}" type="datetimeFigureOut">
              <a:rPr lang="en-US" smtClean="0"/>
              <a:t>6/16/18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58840" y="6371591"/>
            <a:ext cx="2895600" cy="2578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bg2">
                    <a:lumMod val="60000"/>
                    <a:lumOff val="40000"/>
                  </a:schemeClr>
                </a:solidFill>
                <a:latin typeface="Brush Script MT" pitchFamily="66" charset="0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1000" y="6356350"/>
            <a:ext cx="762000" cy="2714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ctr" defTabSz="914400" rtl="0" eaLnBrk="1" latinLnBrk="0" hangingPunct="1">
              <a:defRPr sz="1200" kern="120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CFE4BAC9-6D41-4691-9299-18EF07EF017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800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2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79438" indent="-228600" algn="l" defTabSz="914400" rtl="0" eaLnBrk="1" latinLnBrk="0" hangingPunct="1">
        <a:spcBef>
          <a:spcPts val="6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8038" indent="-228600" algn="l" defTabSz="914400" rtl="0" eaLnBrk="1" latinLnBrk="0" hangingPunct="1">
        <a:spcBef>
          <a:spcPts val="6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36638" indent="-228600" algn="l" defTabSz="914400" rtl="0" eaLnBrk="1" latinLnBrk="0" hangingPunct="1">
        <a:spcBef>
          <a:spcPts val="6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265238" indent="-228600" algn="l" defTabSz="914400" rtl="0" eaLnBrk="1" latinLnBrk="0" hangingPunct="1">
        <a:spcBef>
          <a:spcPts val="6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485900" indent="-228600" algn="l" defTabSz="914400" rtl="0" eaLnBrk="1" latinLnBrk="0" hangingPunct="1">
        <a:spcBef>
          <a:spcPct val="200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712913" indent="-228600" algn="l" defTabSz="914400" rtl="0" eaLnBrk="1" latinLnBrk="0" hangingPunct="1">
        <a:spcBef>
          <a:spcPct val="20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947863" indent="-228600" algn="l" defTabSz="914400" rtl="0" eaLnBrk="1" latinLnBrk="0" hangingPunct="1">
        <a:spcBef>
          <a:spcPct val="200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174875" indent="-228600" algn="l" defTabSz="914400" rtl="0" eaLnBrk="1" latinLnBrk="0" hangingPunct="1">
        <a:spcBef>
          <a:spcPct val="20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dirk.barbi@awi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 smtClean="0"/>
              <a:t>esm</a:t>
            </a:r>
            <a:r>
              <a:rPr lang="de-DE" dirty="0" smtClean="0"/>
              <a:t>-master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smtClean="0"/>
              <a:t>Download, </a:t>
            </a:r>
            <a:r>
              <a:rPr lang="de-DE" dirty="0" err="1" smtClean="0"/>
              <a:t>configure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6976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Download </a:t>
            </a:r>
            <a:r>
              <a:rPr lang="de-DE" dirty="0" err="1" smtClean="0"/>
              <a:t>esm</a:t>
            </a:r>
            <a:r>
              <a:rPr lang="de-DE" dirty="0" smtClean="0"/>
              <a:t>-master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de-DE" dirty="0" smtClean="0">
                <a:latin typeface="STIXNonUnicode-Regular"/>
                <a:cs typeface="STIXNonUnicode-Regular"/>
              </a:rPr>
              <a:t>`</a:t>
            </a:r>
            <a:r>
              <a:rPr lang="de-DE" i="1" dirty="0" err="1" smtClean="0">
                <a:latin typeface="STIXNonUnicode-Regular"/>
                <a:cs typeface="STIXNonUnicode-Regular"/>
              </a:rPr>
              <a:t>git</a:t>
            </a:r>
            <a:r>
              <a:rPr lang="de-DE" i="1" dirty="0" smtClean="0">
                <a:latin typeface="STIXNonUnicode-Regular"/>
                <a:cs typeface="STIXNonUnicode-Regular"/>
              </a:rPr>
              <a:t> </a:t>
            </a:r>
            <a:r>
              <a:rPr lang="de-DE" i="1" dirty="0" err="1" smtClean="0">
                <a:latin typeface="STIXNonUnicode-Regular"/>
                <a:cs typeface="STIXNonUnicode-Regular"/>
              </a:rPr>
              <a:t>clone</a:t>
            </a:r>
            <a:r>
              <a:rPr lang="de-DE" i="1" dirty="0" smtClean="0">
                <a:latin typeface="STIXNonUnicode-Regular"/>
                <a:cs typeface="STIXNonUnicode-Regular"/>
              </a:rPr>
              <a:t> https</a:t>
            </a:r>
            <a:r>
              <a:rPr lang="de-DE" i="1" dirty="0">
                <a:latin typeface="STIXNonUnicode-Regular"/>
                <a:cs typeface="STIXNonUnicode-Regular"/>
              </a:rPr>
              <a:t>//</a:t>
            </a:r>
            <a:r>
              <a:rPr lang="de-DE" i="1" dirty="0" err="1">
                <a:latin typeface="STIXNonUnicode-Regular"/>
                <a:cs typeface="STIXNonUnicode-Regular"/>
              </a:rPr>
              <a:t>gitlab.dkrz.de</a:t>
            </a:r>
            <a:r>
              <a:rPr lang="de-DE" i="1" dirty="0">
                <a:latin typeface="STIXNonUnicode-Regular"/>
                <a:cs typeface="STIXNonUnicode-Regular"/>
              </a:rPr>
              <a:t>/</a:t>
            </a:r>
            <a:r>
              <a:rPr lang="de-DE" i="1" dirty="0" err="1">
                <a:latin typeface="STIXNonUnicode-Regular"/>
                <a:cs typeface="STIXNonUnicode-Regular"/>
              </a:rPr>
              <a:t>esm</a:t>
            </a:r>
            <a:r>
              <a:rPr lang="de-DE" i="1" dirty="0">
                <a:latin typeface="STIXNonUnicode-Regular"/>
                <a:cs typeface="STIXNonUnicode-Regular"/>
              </a:rPr>
              <a:t>-tools/</a:t>
            </a:r>
            <a:r>
              <a:rPr lang="de-DE" i="1" dirty="0" err="1">
                <a:latin typeface="STIXNonUnicode-Regular"/>
                <a:cs typeface="STIXNonUnicode-Regular"/>
              </a:rPr>
              <a:t>esm-</a:t>
            </a:r>
            <a:r>
              <a:rPr lang="de-DE" i="1" dirty="0" err="1" smtClean="0">
                <a:latin typeface="STIXNonUnicode-Regular"/>
                <a:cs typeface="STIXNonUnicode-Regular"/>
              </a:rPr>
              <a:t>master.git</a:t>
            </a:r>
            <a:r>
              <a:rPr lang="de-DE" dirty="0" smtClean="0">
                <a:latin typeface="STIXNonUnicode-Regular"/>
                <a:cs typeface="STIXNonUnicode-Regular"/>
              </a:rPr>
              <a:t>`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spcBef>
                <a:spcPts val="200"/>
              </a:spcBef>
              <a:buNone/>
            </a:pP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installation</a:t>
            </a:r>
            <a:r>
              <a:rPr lang="de-DE" dirty="0" smtClean="0"/>
              <a:t> </a:t>
            </a:r>
            <a:r>
              <a:rPr lang="de-DE" dirty="0" err="1" smtClean="0"/>
              <a:t>required</a:t>
            </a:r>
            <a:r>
              <a:rPr lang="de-DE" dirty="0" smtClean="0"/>
              <a:t>, 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de-DE" dirty="0" err="1" smtClean="0"/>
              <a:t>configuration</a:t>
            </a:r>
            <a:r>
              <a:rPr lang="de-DE" dirty="0" smtClean="0"/>
              <a:t> </a:t>
            </a:r>
            <a:r>
              <a:rPr lang="de-DE" dirty="0" err="1" smtClean="0"/>
              <a:t>happens</a:t>
            </a:r>
            <a:r>
              <a:rPr lang="de-DE" dirty="0" smtClean="0"/>
              <a:t> </a:t>
            </a:r>
            <a:r>
              <a:rPr lang="de-DE" dirty="0" err="1" smtClean="0"/>
              <a:t>automatically</a:t>
            </a: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/>
          </a:p>
        </p:txBody>
      </p:sp>
    </p:spTree>
    <p:extLst>
      <p:ext uri="{BB962C8B-B14F-4D97-AF65-F5344CB8AC3E}">
        <p14:creationId xmlns:p14="http://schemas.microsoft.com/office/powerpoint/2010/main" val="1727852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Configure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-master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200"/>
              </a:spcBef>
              <a:buNone/>
            </a:pPr>
            <a:r>
              <a:rPr lang="de-DE" dirty="0" smtClean="0"/>
              <a:t>The </a:t>
            </a:r>
            <a:r>
              <a:rPr lang="de-DE" dirty="0" err="1" smtClean="0"/>
              <a:t>first</a:t>
            </a:r>
            <a:r>
              <a:rPr lang="de-DE" dirty="0" smtClean="0"/>
              <a:t> time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use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-master, </a:t>
            </a:r>
            <a:r>
              <a:rPr lang="de-DE" dirty="0" err="1" smtClean="0"/>
              <a:t>you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asked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your</a:t>
            </a:r>
            <a:r>
              <a:rPr lang="de-DE" dirty="0" smtClean="0"/>
              <a:t> </a:t>
            </a:r>
            <a:r>
              <a:rPr lang="de-DE" dirty="0" err="1" smtClean="0"/>
              <a:t>account</a:t>
            </a:r>
            <a:r>
              <a:rPr lang="de-DE" dirty="0" smtClean="0"/>
              <a:t> </a:t>
            </a:r>
            <a:r>
              <a:rPr lang="de-DE" dirty="0" err="1" smtClean="0"/>
              <a:t>names</a:t>
            </a:r>
            <a:r>
              <a:rPr lang="de-DE" dirty="0" smtClean="0"/>
              <a:t> on </a:t>
            </a:r>
            <a:r>
              <a:rPr lang="de-DE" dirty="0" err="1" smtClean="0"/>
              <a:t>ollie</a:t>
            </a:r>
            <a:r>
              <a:rPr lang="de-DE" dirty="0" smtClean="0"/>
              <a:t> / </a:t>
            </a:r>
            <a:r>
              <a:rPr lang="de-DE" dirty="0" err="1" smtClean="0"/>
              <a:t>mistral</a:t>
            </a:r>
            <a:r>
              <a:rPr lang="de-DE" dirty="0" smtClean="0"/>
              <a:t>.</a:t>
            </a:r>
          </a:p>
          <a:p>
            <a:pPr marL="0" indent="0" algn="ctr">
              <a:spcBef>
                <a:spcPts val="200"/>
              </a:spcBef>
              <a:buNone/>
            </a:pPr>
            <a:endParaRPr lang="de-DE" dirty="0"/>
          </a:p>
          <a:p>
            <a:pPr marL="0" indent="0" algn="ctr">
              <a:spcBef>
                <a:spcPts val="200"/>
              </a:spcBef>
              <a:buNone/>
            </a:pPr>
            <a:r>
              <a:rPr lang="de-DE" dirty="0" smtClean="0"/>
              <a:t>The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saved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esm-master.conf</a:t>
            </a:r>
            <a:r>
              <a:rPr lang="de-DE" dirty="0" smtClean="0"/>
              <a:t>.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edit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later</a:t>
            </a:r>
            <a:r>
              <a:rPr lang="de-DE" dirty="0" smtClean="0"/>
              <a:t>, </a:t>
            </a:r>
            <a:r>
              <a:rPr lang="de-DE" dirty="0" err="1" smtClean="0"/>
              <a:t>or</a:t>
            </a:r>
            <a:r>
              <a:rPr lang="de-DE" dirty="0" smtClean="0"/>
              <a:t> </a:t>
            </a:r>
            <a:r>
              <a:rPr lang="de-DE" dirty="0" err="1" smtClean="0"/>
              <a:t>call</a:t>
            </a: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conf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restart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configuration</a:t>
            </a:r>
            <a:r>
              <a:rPr lang="de-DE" dirty="0" smtClean="0"/>
              <a:t> </a:t>
            </a:r>
            <a:r>
              <a:rPr lang="de-DE" dirty="0" err="1" smtClean="0"/>
              <a:t>dialog</a:t>
            </a:r>
            <a:r>
              <a:rPr lang="de-DE" dirty="0" smtClean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3002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available</a:t>
            </a:r>
            <a:r>
              <a:rPr lang="de-DE" dirty="0" smtClean="0"/>
              <a:t> </a:t>
            </a:r>
            <a:r>
              <a:rPr lang="de-DE" dirty="0" err="1" smtClean="0"/>
              <a:t>targets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2961672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sz="2000" dirty="0" smtClean="0">
                <a:ea typeface="STIXNonUnicode-Regular" charset="0"/>
                <a:cs typeface="STIXNonUnicode-Regular" charset="0"/>
              </a:rPr>
              <a:t>Type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  <a:r>
              <a:rPr lang="de-DE" sz="2000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sz="2000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sz="2000" dirty="0" err="1" smtClean="0">
                <a:ea typeface="STIXNonUnicode-Regular" charset="0"/>
                <a:cs typeface="STIXNonUnicode-Regular" charset="0"/>
              </a:rPr>
              <a:t>to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see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what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esm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-master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can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do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for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sz="2000" dirty="0" err="1" smtClean="0">
                <a:ea typeface="STIXNonUnicode-Regular" charset="0"/>
                <a:cs typeface="STIXNonUnicode-Regular" charset="0"/>
              </a:rPr>
              <a:t>you</a:t>
            </a:r>
            <a:r>
              <a:rPr lang="de-DE" sz="2000" dirty="0" smtClean="0">
                <a:ea typeface="STIXNonUnicode-Regular" charset="0"/>
                <a:cs typeface="STIXNonUnicode-Regular" charset="0"/>
              </a:rPr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6198" y="1682496"/>
            <a:ext cx="5430219" cy="416234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121" y="2955340"/>
            <a:ext cx="2921105" cy="3095499"/>
          </a:xfrm>
          <a:prstGeom prst="rect">
            <a:avLst/>
          </a:prstGeom>
        </p:spPr>
      </p:pic>
      <p:cxnSp>
        <p:nvCxnSpPr>
          <p:cNvPr id="7" name="Straight Connector 6"/>
          <p:cNvCxnSpPr/>
          <p:nvPr/>
        </p:nvCxnSpPr>
        <p:spPr>
          <a:xfrm>
            <a:off x="5749747" y="2823665"/>
            <a:ext cx="0" cy="3358847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5749747" y="2823665"/>
            <a:ext cx="3028493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2854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 smtClean="0"/>
              <a:t>Use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-master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download</a:t>
            </a:r>
            <a:r>
              <a:rPr lang="de-DE" dirty="0" smtClean="0"/>
              <a:t> </a:t>
            </a:r>
            <a:r>
              <a:rPr lang="de-DE" dirty="0" err="1" smtClean="0"/>
              <a:t>stuff</a:t>
            </a:r>
            <a:r>
              <a:rPr lang="mr-IN" dirty="0" smtClean="0"/>
              <a:t>…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get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stuff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-version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`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will </a:t>
            </a:r>
            <a:r>
              <a:rPr lang="de-DE" dirty="0" err="1" smtClean="0"/>
              <a:t>download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named</a:t>
            </a:r>
            <a:r>
              <a:rPr lang="de-DE" dirty="0" smtClean="0"/>
              <a:t> </a:t>
            </a:r>
            <a:r>
              <a:rPr lang="de-DE" dirty="0" err="1" smtClean="0"/>
              <a:t>version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software</a:t>
            </a:r>
            <a:r>
              <a:rPr lang="de-DE" dirty="0" smtClean="0"/>
              <a:t> </a:t>
            </a:r>
            <a:r>
              <a:rPr lang="de-DE" dirty="0" err="1" smtClean="0"/>
              <a:t>tool</a:t>
            </a:r>
            <a:r>
              <a:rPr lang="de-DE" dirty="0" smtClean="0"/>
              <a:t> "</a:t>
            </a:r>
            <a:r>
              <a:rPr lang="de-DE" dirty="0" err="1" smtClean="0"/>
              <a:t>stuff</a:t>
            </a:r>
            <a:r>
              <a:rPr lang="de-DE" dirty="0" smtClean="0"/>
              <a:t> " </a:t>
            </a:r>
            <a:r>
              <a:rPr lang="de-DE" dirty="0" err="1" smtClean="0"/>
              <a:t>using</a:t>
            </a:r>
            <a:r>
              <a:rPr lang="de-DE" dirty="0" smtClean="0"/>
              <a:t> </a:t>
            </a:r>
            <a:r>
              <a:rPr lang="de-DE" dirty="0" err="1" smtClean="0"/>
              <a:t>svn</a:t>
            </a:r>
            <a:r>
              <a:rPr lang="de-DE" dirty="0" smtClean="0"/>
              <a:t> </a:t>
            </a:r>
            <a:r>
              <a:rPr lang="de-DE" dirty="0" err="1" smtClean="0"/>
              <a:t>or</a:t>
            </a:r>
            <a:r>
              <a:rPr lang="de-DE" dirty="0" smtClean="0"/>
              <a:t> </a:t>
            </a:r>
            <a:r>
              <a:rPr lang="de-DE" dirty="0" err="1" smtClean="0"/>
              <a:t>git</a:t>
            </a:r>
            <a:r>
              <a:rPr lang="de-DE" dirty="0" smtClean="0"/>
              <a:t>, </a:t>
            </a:r>
            <a:r>
              <a:rPr lang="de-DE" dirty="0" err="1" smtClean="0"/>
              <a:t>if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user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access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repository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"</a:t>
            </a:r>
            <a:r>
              <a:rPr lang="de-DE" dirty="0" err="1" smtClean="0"/>
              <a:t>stuff</a:t>
            </a:r>
            <a:r>
              <a:rPr lang="de-DE" dirty="0" smtClean="0"/>
              <a:t> ".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The </a:t>
            </a:r>
            <a:r>
              <a:rPr lang="de-DE" dirty="0" err="1" smtClean="0"/>
              <a:t>tool</a:t>
            </a:r>
            <a:r>
              <a:rPr lang="de-DE" dirty="0" smtClean="0"/>
              <a:t> </a:t>
            </a:r>
            <a:r>
              <a:rPr lang="de-DE" dirty="0" err="1" smtClean="0"/>
              <a:t>does</a:t>
            </a:r>
            <a:r>
              <a:rPr lang="de-DE" dirty="0" smtClean="0"/>
              <a:t> not </a:t>
            </a:r>
            <a:r>
              <a:rPr lang="de-DE" dirty="0" err="1" smtClean="0"/>
              <a:t>replace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permission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owner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repository</a:t>
            </a:r>
            <a:r>
              <a:rPr lang="de-DE" dirty="0" smtClean="0"/>
              <a:t>!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0549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mr-IN" dirty="0" smtClean="0"/>
              <a:t>…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configure</a:t>
            </a:r>
            <a:r>
              <a:rPr lang="de-DE" dirty="0" smtClean="0"/>
              <a:t> </a:t>
            </a:r>
            <a:r>
              <a:rPr lang="de-DE" dirty="0" err="1" smtClean="0"/>
              <a:t>stuff</a:t>
            </a:r>
            <a:r>
              <a:rPr lang="mr-IN" dirty="0" smtClean="0"/>
              <a:t>…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conf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stuff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-version</a:t>
            </a: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endParaRPr lang="de-DE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Some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 </a:t>
            </a:r>
            <a:r>
              <a:rPr lang="de-DE" dirty="0" err="1" smtClean="0"/>
              <a:t>require</a:t>
            </a:r>
            <a:r>
              <a:rPr lang="de-DE" dirty="0" smtClean="0"/>
              <a:t> </a:t>
            </a:r>
            <a:r>
              <a:rPr lang="de-DE" dirty="0" err="1" smtClean="0"/>
              <a:t>configuration</a:t>
            </a:r>
            <a:r>
              <a:rPr lang="de-DE" dirty="0" smtClean="0"/>
              <a:t> </a:t>
            </a:r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compiling</a:t>
            </a:r>
            <a:r>
              <a:rPr lang="de-DE" dirty="0" smtClean="0"/>
              <a:t>, e.g. </a:t>
            </a:r>
            <a:r>
              <a:rPr lang="de-DE" dirty="0" err="1" smtClean="0"/>
              <a:t>mpiesm</a:t>
            </a:r>
            <a:r>
              <a:rPr lang="de-DE" dirty="0" smtClean="0"/>
              <a:t>.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The </a:t>
            </a:r>
            <a:r>
              <a:rPr lang="de-DE" dirty="0" err="1" smtClean="0"/>
              <a:t>tools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-master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esm-runscripts</a:t>
            </a:r>
            <a:r>
              <a:rPr lang="de-DE" dirty="0" smtClean="0"/>
              <a:t> also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configured</a:t>
            </a:r>
            <a:r>
              <a:rPr lang="de-DE" dirty="0" smtClean="0"/>
              <a:t>,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default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get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dirty="0" smtClean="0"/>
              <a:t>‘. In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case</a:t>
            </a:r>
            <a:r>
              <a:rPr lang="de-DE" dirty="0" smtClean="0"/>
              <a:t>,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calling</a:t>
            </a:r>
            <a:r>
              <a:rPr lang="de-DE" dirty="0" smtClean="0"/>
              <a:t> 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conf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dirty="0" smtClean="0"/>
              <a:t>‘ will </a:t>
            </a:r>
            <a:r>
              <a:rPr lang="de-DE" dirty="0" err="1" smtClean="0"/>
              <a:t>restart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configuration</a:t>
            </a:r>
            <a:r>
              <a:rPr lang="de-DE" dirty="0" smtClean="0"/>
              <a:t> </a:t>
            </a:r>
            <a:r>
              <a:rPr lang="de-DE" dirty="0" err="1" smtClean="0"/>
              <a:t>steps</a:t>
            </a:r>
            <a:r>
              <a:rPr lang="de-DE" dirty="0" smtClean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38558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mr-IN" dirty="0" smtClean="0"/>
              <a:t>…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r>
              <a:rPr lang="de-DE" dirty="0" smtClean="0"/>
              <a:t> </a:t>
            </a:r>
            <a:r>
              <a:rPr lang="de-DE" dirty="0" err="1" smtClean="0"/>
              <a:t>stuff</a:t>
            </a:r>
            <a:r>
              <a:rPr lang="mr-IN" dirty="0" smtClean="0"/>
              <a:t>…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comp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stuff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-version</a:t>
            </a: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endParaRPr lang="de-DE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dirty="0" smtClean="0"/>
              <a:t> will </a:t>
            </a:r>
            <a:r>
              <a:rPr lang="de-DE" dirty="0" err="1" smtClean="0"/>
              <a:t>trigger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‘ </a:t>
            </a:r>
            <a:r>
              <a:rPr lang="de-DE" dirty="0" err="1" smtClean="0"/>
              <a:t>own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r>
              <a:rPr lang="de-DE" dirty="0" smtClean="0"/>
              <a:t> </a:t>
            </a:r>
            <a:r>
              <a:rPr lang="de-DE" dirty="0" err="1" smtClean="0"/>
              <a:t>systems</a:t>
            </a:r>
            <a:r>
              <a:rPr lang="de-DE" dirty="0" smtClean="0"/>
              <a:t>, </a:t>
            </a:r>
            <a:r>
              <a:rPr lang="de-DE" dirty="0" err="1" smtClean="0"/>
              <a:t>rather</a:t>
            </a:r>
            <a:r>
              <a:rPr lang="de-DE" dirty="0" smtClean="0"/>
              <a:t> </a:t>
            </a:r>
            <a:r>
              <a:rPr lang="de-DE" dirty="0" err="1" smtClean="0"/>
              <a:t>than</a:t>
            </a:r>
            <a:r>
              <a:rPr lang="de-DE" dirty="0" smtClean="0"/>
              <a:t> </a:t>
            </a:r>
            <a:r>
              <a:rPr lang="de-DE" dirty="0" err="1" smtClean="0"/>
              <a:t>replace</a:t>
            </a:r>
            <a:r>
              <a:rPr lang="de-DE" dirty="0" smtClean="0"/>
              <a:t> </a:t>
            </a:r>
            <a:r>
              <a:rPr lang="de-DE" dirty="0" err="1" smtClean="0"/>
              <a:t>them</a:t>
            </a:r>
            <a:r>
              <a:rPr lang="de-DE" dirty="0" smtClean="0"/>
              <a:t>. </a:t>
            </a:r>
            <a:r>
              <a:rPr lang="de-DE" dirty="0" err="1" smtClean="0"/>
              <a:t>If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,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environment</a:t>
            </a:r>
            <a:r>
              <a:rPr lang="de-DE" dirty="0" smtClean="0"/>
              <a:t> </a:t>
            </a:r>
            <a:r>
              <a:rPr lang="de-DE" dirty="0" err="1" smtClean="0"/>
              <a:t>setting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read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-environment</a:t>
            </a:r>
            <a:r>
              <a:rPr lang="de-DE" dirty="0" smtClean="0"/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(</a:t>
            </a:r>
            <a:r>
              <a:rPr lang="de-DE" dirty="0" err="1" smtClean="0"/>
              <a:t>advised</a:t>
            </a:r>
            <a:r>
              <a:rPr lang="de-DE" dirty="0" smtClean="0"/>
              <a:t>); </a:t>
            </a:r>
            <a:r>
              <a:rPr lang="de-DE" dirty="0" err="1" smtClean="0"/>
              <a:t>if</a:t>
            </a:r>
            <a:r>
              <a:rPr lang="de-DE" dirty="0" smtClean="0"/>
              <a:t> not,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defined</a:t>
            </a:r>
            <a:r>
              <a:rPr lang="de-DE" dirty="0" smtClean="0"/>
              <a:t> </a:t>
            </a:r>
            <a:r>
              <a:rPr lang="de-DE" dirty="0" err="1" smtClean="0"/>
              <a:t>settings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.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Compiled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registered in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esm-master.conf</a:t>
            </a:r>
            <a:r>
              <a:rPr lang="de-DE" dirty="0" smtClean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0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mr-IN" dirty="0" smtClean="0"/>
              <a:t>…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clean </a:t>
            </a:r>
            <a:r>
              <a:rPr lang="de-DE" dirty="0" err="1" smtClean="0"/>
              <a:t>stuff</a:t>
            </a:r>
            <a:r>
              <a:rPr lang="de-DE" dirty="0" smtClean="0"/>
              <a:t>.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clean-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stuff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-version</a:t>
            </a: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endParaRPr lang="de-DE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dirty="0" smtClean="0"/>
              <a:t> will </a:t>
            </a:r>
            <a:r>
              <a:rPr lang="de-DE" dirty="0" err="1" smtClean="0"/>
              <a:t>trigger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‘ </a:t>
            </a:r>
            <a:r>
              <a:rPr lang="de-DE" dirty="0" err="1" smtClean="0"/>
              <a:t>own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r>
              <a:rPr lang="de-DE" dirty="0" smtClean="0"/>
              <a:t> </a:t>
            </a:r>
            <a:r>
              <a:rPr lang="de-DE" dirty="0" err="1" smtClean="0"/>
              <a:t>systems</a:t>
            </a:r>
            <a:r>
              <a:rPr lang="de-DE" dirty="0" smtClean="0"/>
              <a:t>, </a:t>
            </a:r>
            <a:r>
              <a:rPr lang="de-DE" dirty="0" err="1" smtClean="0"/>
              <a:t>rather</a:t>
            </a:r>
            <a:r>
              <a:rPr lang="de-DE" dirty="0" smtClean="0"/>
              <a:t> </a:t>
            </a:r>
            <a:r>
              <a:rPr lang="de-DE" dirty="0" err="1" smtClean="0"/>
              <a:t>than</a:t>
            </a:r>
            <a:r>
              <a:rPr lang="de-DE" dirty="0" smtClean="0"/>
              <a:t> </a:t>
            </a:r>
            <a:r>
              <a:rPr lang="de-DE" dirty="0" err="1" smtClean="0"/>
              <a:t>replace</a:t>
            </a:r>
            <a:r>
              <a:rPr lang="de-DE" dirty="0" smtClean="0"/>
              <a:t> </a:t>
            </a:r>
            <a:r>
              <a:rPr lang="de-DE" dirty="0" err="1" smtClean="0"/>
              <a:t>them</a:t>
            </a:r>
            <a:r>
              <a:rPr lang="de-DE" dirty="0" smtClean="0"/>
              <a:t>. </a:t>
            </a:r>
            <a:r>
              <a:rPr lang="de-DE" dirty="0" err="1" smtClean="0"/>
              <a:t>If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,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environment</a:t>
            </a:r>
            <a:r>
              <a:rPr lang="de-DE" dirty="0" smtClean="0"/>
              <a:t> </a:t>
            </a:r>
            <a:r>
              <a:rPr lang="de-DE" dirty="0" err="1" smtClean="0"/>
              <a:t>setting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read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-environment</a:t>
            </a:r>
            <a:r>
              <a:rPr lang="de-DE" dirty="0" smtClean="0"/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(</a:t>
            </a:r>
            <a:r>
              <a:rPr lang="de-DE" dirty="0" err="1" smtClean="0"/>
              <a:t>advised</a:t>
            </a:r>
            <a:r>
              <a:rPr lang="de-DE" dirty="0" smtClean="0"/>
              <a:t>); </a:t>
            </a:r>
            <a:r>
              <a:rPr lang="de-DE" dirty="0" err="1" smtClean="0"/>
              <a:t>if</a:t>
            </a:r>
            <a:r>
              <a:rPr lang="de-DE" dirty="0" smtClean="0"/>
              <a:t> not,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defined</a:t>
            </a:r>
            <a:r>
              <a:rPr lang="de-DE" dirty="0" smtClean="0"/>
              <a:t> </a:t>
            </a:r>
            <a:r>
              <a:rPr lang="de-DE" dirty="0" err="1" smtClean="0"/>
              <a:t>settings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7801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 smtClean="0"/>
              <a:t>Metarepositories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-master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assemble</a:t>
            </a:r>
            <a:r>
              <a:rPr lang="de-DE" dirty="0" smtClean="0"/>
              <a:t> an ESM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seperate</a:t>
            </a:r>
            <a:r>
              <a:rPr lang="de-DE" dirty="0" smtClean="0"/>
              <a:t> </a:t>
            </a:r>
            <a:r>
              <a:rPr lang="de-DE" dirty="0" err="1" smtClean="0"/>
              <a:t>component</a:t>
            </a:r>
            <a:r>
              <a:rPr lang="de-DE" dirty="0" smtClean="0"/>
              <a:t> </a:t>
            </a:r>
            <a:r>
              <a:rPr lang="de-DE" dirty="0" err="1" smtClean="0"/>
              <a:t>repositories</a:t>
            </a:r>
            <a:r>
              <a:rPr lang="de-DE" dirty="0" smtClean="0"/>
              <a:t>, e.g. awicm-2.0.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/>
              <a:t>This </a:t>
            </a:r>
            <a:r>
              <a:rPr lang="de-DE" dirty="0" err="1" smtClean="0"/>
              <a:t>happens</a:t>
            </a:r>
            <a:r>
              <a:rPr lang="de-DE" dirty="0" smtClean="0"/>
              <a:t> invisible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user</a:t>
            </a:r>
            <a:r>
              <a:rPr lang="de-DE" dirty="0" smtClean="0"/>
              <a:t>.</a:t>
            </a:r>
            <a:endParaRPr lang="de-DE" dirty="0" smtClean="0"/>
          </a:p>
        </p:txBody>
      </p:sp>
    </p:spTree>
    <p:extLst>
      <p:ext uri="{BB962C8B-B14F-4D97-AF65-F5344CB8AC3E}">
        <p14:creationId xmlns:p14="http://schemas.microsoft.com/office/powerpoint/2010/main" val="1099950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 smtClean="0"/>
              <a:t>Learn</a:t>
            </a:r>
            <a:r>
              <a:rPr lang="de-DE" dirty="0" smtClean="0"/>
              <a:t> </a:t>
            </a:r>
            <a:r>
              <a:rPr lang="de-DE" dirty="0" err="1" smtClean="0"/>
              <a:t>more</a:t>
            </a:r>
            <a:r>
              <a:rPr lang="de-DE" dirty="0" smtClean="0"/>
              <a:t>: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800"/>
              </a:spcBef>
              <a:buNone/>
            </a:pP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Check out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the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documentation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,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available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by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typing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get-esm-usermanual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</a:p>
          <a:p>
            <a:pPr marL="0" indent="0" algn="ctr">
              <a:spcBef>
                <a:spcPts val="800"/>
              </a:spcBef>
              <a:buNone/>
            </a:pP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 err="1" smtClean="0"/>
              <a:t>or</a:t>
            </a:r>
            <a:endParaRPr lang="de-DE" dirty="0" smtClean="0"/>
          </a:p>
          <a:p>
            <a:pPr marL="0" indent="0" algn="ctr">
              <a:spcBef>
                <a:spcPts val="800"/>
              </a:spcBef>
              <a:buNone/>
            </a:pPr>
            <a:endParaRPr lang="de-DE" dirty="0"/>
          </a:p>
          <a:p>
            <a:pPr marL="0" indent="0" algn="ctr">
              <a:spcBef>
                <a:spcPts val="800"/>
              </a:spcBef>
              <a:buNone/>
            </a:pP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git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clone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https://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gitlab.dkrz.de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/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-tools/</a:t>
            </a: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esm-usermanual.git</a:t>
            </a:r>
            <a:r>
              <a:rPr lang="de-DE" dirty="0">
                <a:latin typeface="STIXNonUnicode-Regular" charset="0"/>
                <a:ea typeface="STIXNonUnicode-Regular" charset="0"/>
                <a:cs typeface="STIXNonUnicode-Regular" charset="0"/>
              </a:rPr>
              <a:t>'</a:t>
            </a:r>
          </a:p>
        </p:txBody>
      </p:sp>
    </p:spTree>
    <p:extLst>
      <p:ext uri="{BB962C8B-B14F-4D97-AF65-F5344CB8AC3E}">
        <p14:creationId xmlns:p14="http://schemas.microsoft.com/office/powerpoint/2010/main" val="20293131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smtClean="0"/>
              <a:t>More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come</a:t>
            </a:r>
            <a:r>
              <a:rPr lang="de-DE" dirty="0" smtClean="0"/>
              <a:t>: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4526" y="2114886"/>
            <a:ext cx="8301790" cy="3931920"/>
          </a:xfrm>
        </p:spPr>
        <p:txBody>
          <a:bodyPr>
            <a:normAutofit/>
          </a:bodyPr>
          <a:lstStyle/>
          <a:p>
            <a:pPr>
              <a:spcBef>
                <a:spcPts val="800"/>
              </a:spcBef>
            </a:pPr>
            <a:r>
              <a:rPr lang="de-DE" dirty="0" smtClean="0">
                <a:ea typeface="STIXNonUnicode-Regular" charset="0"/>
                <a:cs typeface="STIXNonUnicode-Regular" charset="0"/>
              </a:rPr>
              <a:t>Support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for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more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models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(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oifs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nemo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RecoM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, </a:t>
            </a:r>
            <a:r>
              <a:rPr lang="mr-IN" dirty="0" smtClean="0">
                <a:ea typeface="STIXNonUnicode-Regular" charset="0"/>
                <a:cs typeface="STIXNonUnicode-Regular" charset="0"/>
              </a:rPr>
              <a:t>…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)</a:t>
            </a:r>
            <a:endParaRPr lang="de-DE" dirty="0" smtClean="0"/>
          </a:p>
          <a:p>
            <a:pPr>
              <a:spcBef>
                <a:spcPts val="800"/>
              </a:spcBef>
            </a:pPr>
            <a:r>
              <a:rPr lang="de-DE" i="1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make</a:t>
            </a:r>
            <a:r>
              <a:rPr lang="de-DE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 update-</a:t>
            </a:r>
            <a:r>
              <a:rPr lang="mr-IN" i="1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…</a:t>
            </a:r>
            <a:endParaRPr lang="de-DE" i="1" dirty="0" smtClean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>
              <a:spcBef>
                <a:spcPts val="800"/>
              </a:spcBef>
            </a:pPr>
            <a:r>
              <a:rPr lang="de-DE" dirty="0" err="1" smtClean="0">
                <a:ea typeface="STIXNonUnicode-Regular" charset="0"/>
                <a:cs typeface="STIXNonUnicode-Regular" charset="0"/>
              </a:rPr>
              <a:t>database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keeping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track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of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what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you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compiled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/ ran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with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which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versions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of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the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 </a:t>
            </a:r>
            <a:r>
              <a:rPr lang="de-DE" dirty="0" err="1" smtClean="0">
                <a:ea typeface="STIXNonUnicode-Regular" charset="0"/>
                <a:cs typeface="STIXNonUnicode-Regular" charset="0"/>
              </a:rPr>
              <a:t>esm</a:t>
            </a:r>
            <a:r>
              <a:rPr lang="de-DE" dirty="0" smtClean="0">
                <a:ea typeface="STIXNonUnicode-Regular" charset="0"/>
                <a:cs typeface="STIXNonUnicode-Regular" charset="0"/>
              </a:rPr>
              <a:t>-tools</a:t>
            </a:r>
            <a:r>
              <a:rPr lang="de-DE" dirty="0" smtClean="0"/>
              <a:t> </a:t>
            </a:r>
          </a:p>
          <a:p>
            <a:pPr>
              <a:spcBef>
                <a:spcPts val="800"/>
              </a:spcBef>
            </a:pPr>
            <a:r>
              <a:rPr lang="de-DE" dirty="0" err="1" smtClean="0"/>
              <a:t>any</a:t>
            </a:r>
            <a:r>
              <a:rPr lang="de-DE" dirty="0" smtClean="0"/>
              <a:t> </a:t>
            </a:r>
            <a:r>
              <a:rPr lang="de-DE" dirty="0" err="1" smtClean="0"/>
              <a:t>ideas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your</a:t>
            </a:r>
            <a:r>
              <a:rPr lang="de-DE" dirty="0" smtClean="0"/>
              <a:t> </a:t>
            </a:r>
            <a:r>
              <a:rPr lang="de-DE" dirty="0" err="1" smtClean="0"/>
              <a:t>side</a:t>
            </a:r>
            <a:r>
              <a:rPr lang="de-DE" dirty="0" smtClean="0"/>
              <a:t> (</a:t>
            </a:r>
            <a:r>
              <a:rPr lang="de-DE" dirty="0" err="1" smtClean="0"/>
              <a:t>Please</a:t>
            </a:r>
            <a:r>
              <a:rPr lang="de-DE" dirty="0" smtClean="0"/>
              <a:t> </a:t>
            </a:r>
            <a:r>
              <a:rPr lang="de-DE" dirty="0" err="1" smtClean="0"/>
              <a:t>let</a:t>
            </a:r>
            <a:r>
              <a:rPr lang="de-DE" dirty="0" smtClean="0"/>
              <a:t> </a:t>
            </a:r>
            <a:r>
              <a:rPr lang="de-DE" dirty="0" err="1" smtClean="0"/>
              <a:t>me</a:t>
            </a:r>
            <a:r>
              <a:rPr lang="de-DE" dirty="0" smtClean="0"/>
              <a:t> </a:t>
            </a:r>
            <a:r>
              <a:rPr lang="de-DE" dirty="0" err="1" smtClean="0"/>
              <a:t>know</a:t>
            </a:r>
            <a:r>
              <a:rPr lang="de-DE" dirty="0" smtClean="0"/>
              <a:t>, </a:t>
            </a:r>
            <a:r>
              <a:rPr lang="de-DE" dirty="0" smtClean="0">
                <a:solidFill>
                  <a:schemeClr val="accent3"/>
                </a:solidFill>
                <a:hlinkClick r:id="rId2"/>
              </a:rPr>
              <a:t>dirk.barbi@awi.de</a:t>
            </a:r>
            <a:r>
              <a:rPr lang="de-DE" dirty="0" smtClean="0"/>
              <a:t>, -1561)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74785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</file>

<file path=ppt/theme/theme1.xml><?xml version="1.0" encoding="utf-8"?>
<a:theme xmlns:a="http://schemas.openxmlformats.org/drawingml/2006/main" name="Capital">
  <a:themeElements>
    <a:clrScheme name="Custom 2">
      <a:dk1>
        <a:srgbClr val="000000"/>
      </a:dk1>
      <a:lt1>
        <a:srgbClr val="FFFFFF"/>
      </a:lt1>
      <a:dk2>
        <a:srgbClr val="7C9BA5"/>
      </a:dk2>
      <a:lt2>
        <a:srgbClr val="C1D0CA"/>
      </a:lt2>
      <a:accent1>
        <a:srgbClr val="F2D908"/>
      </a:accent1>
      <a:accent2>
        <a:srgbClr val="9DE61E"/>
      </a:accent2>
      <a:accent3>
        <a:srgbClr val="0D8BE6"/>
      </a:accent3>
      <a:accent4>
        <a:srgbClr val="C61B1B"/>
      </a:accent4>
      <a:accent5>
        <a:srgbClr val="E26F08"/>
      </a:accent5>
      <a:accent6>
        <a:srgbClr val="8D35D1"/>
      </a:accent6>
      <a:hlink>
        <a:srgbClr val="1F93EC"/>
      </a:hlink>
      <a:folHlink>
        <a:srgbClr val="0D00F4"/>
      </a:folHlink>
    </a:clrScheme>
    <a:fontScheme name="Capital">
      <a:majorFont>
        <a:latin typeface="Calisto MT"/>
        <a:ea typeface=""/>
        <a:cs typeface=""/>
        <a:font script="Jpan" typeface="ＭＳ 明朝"/>
        <a:font script="Hans" typeface="宋体"/>
        <a:font script="Hant" typeface="新細明體"/>
      </a:majorFont>
      <a:minorFont>
        <a:latin typeface="Calisto MT"/>
        <a:ea typeface=""/>
        <a:cs typeface=""/>
        <a:font script="Jpan" typeface="ＭＳ 明朝"/>
        <a:font script="Hans" typeface="宋体"/>
        <a:font script="Hant" typeface="新細明體"/>
      </a:minorFont>
    </a:fontScheme>
    <a:fmtScheme name="Capital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atMod val="150000"/>
                <a:lumMod val="50000"/>
              </a:schemeClr>
              <a:schemeClr val="phClr">
                <a:satMod val="300000"/>
                <a:lumMod val="125000"/>
              </a:schemeClr>
            </a:duotone>
          </a:blip>
          <a:tile tx="0" ty="0" sx="100000" sy="10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satMod val="135000"/>
                <a:lumMod val="80000"/>
              </a:schemeClr>
              <a:schemeClr val="phClr">
                <a:satMod val="250000"/>
                <a:lumMod val="150000"/>
              </a:schemeClr>
            </a:duotone>
          </a:blip>
          <a:stretch/>
        </a:blip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1750" cap="flat" cmpd="sng" algn="ctr">
          <a:solidFill>
            <a:schemeClr val="phClr">
              <a:shade val="90000"/>
            </a:schemeClr>
          </a:solidFill>
          <a:prstDash val="solid"/>
        </a:ln>
        <a:ln w="44450" cap="flat" cmpd="sng" algn="ctr">
          <a:solidFill>
            <a:schemeClr val="phClr">
              <a:shade val="85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sx="101000" sy="101000" algn="ctr" rotWithShape="0">
              <a:srgbClr val="000000">
                <a:alpha val="40000"/>
              </a:srgbClr>
            </a:outerShdw>
          </a:effectLst>
          <a:scene3d>
            <a:camera prst="perspectiveFront" fov="3000000"/>
            <a:lightRig rig="threePt" dir="tl"/>
          </a:scene3d>
          <a:sp3d>
            <a:bevelT w="0" h="0"/>
          </a:sp3d>
        </a:effectStyle>
        <a:effectStyle>
          <a:effectLst>
            <a:innerShdw blurRad="190500">
              <a:srgbClr val="000000">
                <a:alpha val="50000"/>
              </a:srgbClr>
            </a:innerShdw>
          </a:effectLst>
          <a:scene3d>
            <a:camera prst="perspectiveFront" fov="4800000"/>
            <a:lightRig rig="twoPt" dir="t">
              <a:rot lat="0" lon="0" rev="4800000"/>
            </a:lightRig>
          </a:scene3d>
          <a:sp3d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3">
            <a:duotone>
              <a:schemeClr val="phClr">
                <a:satMod val="150000"/>
                <a:lumMod val="50000"/>
              </a:schemeClr>
              <a:schemeClr val="phClr">
                <a:satMod val="400000"/>
                <a:lumMod val="16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Theia.thmx</Template>
  <TotalTime>45</TotalTime>
  <Words>388</Words>
  <Application>Microsoft Macintosh PowerPoint</Application>
  <PresentationFormat>On-screen Show (4:3)</PresentationFormat>
  <Paragraphs>61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Brush Script MT</vt:lpstr>
      <vt:lpstr>Calisto MT</vt:lpstr>
      <vt:lpstr>STIXNonUnicode-Regular</vt:lpstr>
      <vt:lpstr>Arial</vt:lpstr>
      <vt:lpstr>Capital</vt:lpstr>
      <vt:lpstr>esm-master</vt:lpstr>
      <vt:lpstr>Download esm-master</vt:lpstr>
      <vt:lpstr>Configure esm-master</vt:lpstr>
      <vt:lpstr>List of available targets</vt:lpstr>
      <vt:lpstr>Use esm-master to download stuff…</vt:lpstr>
      <vt:lpstr>…to configure stuff…</vt:lpstr>
      <vt:lpstr>…to compile stuff…</vt:lpstr>
      <vt:lpstr>…and to clean stuff.</vt:lpstr>
      <vt:lpstr>Metarepositories</vt:lpstr>
      <vt:lpstr>Learn more:</vt:lpstr>
      <vt:lpstr>More to come:</vt:lpstr>
    </vt:vector>
  </TitlesOfParts>
  <Company/>
  <LinksUpToDate>false</LinksUpToDate>
  <SharedDoc>false</SharedDoc>
  <HyperlinksChanged>false</HyperlinksChanged>
  <AppVersion>15.0038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esm-master</dc:title>
  <dc:creator>Dirk Barbi</dc:creator>
  <cp:lastModifiedBy>Microsoft Office User</cp:lastModifiedBy>
  <cp:revision>18</cp:revision>
  <dcterms:created xsi:type="dcterms:W3CDTF">2018-06-14T14:28:16Z</dcterms:created>
  <dcterms:modified xsi:type="dcterms:W3CDTF">2018-06-16T09:13:00Z</dcterms:modified>
</cp:coreProperties>
</file>