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24"/>
  </p:notesMasterIdLst>
  <p:sldIdLst>
    <p:sldId id="256" r:id="rId2"/>
    <p:sldId id="258" r:id="rId3"/>
    <p:sldId id="273" r:id="rId4"/>
    <p:sldId id="272" r:id="rId5"/>
    <p:sldId id="259" r:id="rId6"/>
    <p:sldId id="257" r:id="rId7"/>
    <p:sldId id="284" r:id="rId8"/>
    <p:sldId id="285" r:id="rId9"/>
    <p:sldId id="286" r:id="rId10"/>
    <p:sldId id="287" r:id="rId11"/>
    <p:sldId id="264" r:id="rId12"/>
    <p:sldId id="266" r:id="rId13"/>
    <p:sldId id="262" r:id="rId14"/>
    <p:sldId id="261" r:id="rId15"/>
    <p:sldId id="260" r:id="rId16"/>
    <p:sldId id="289" r:id="rId17"/>
    <p:sldId id="291" r:id="rId18"/>
    <p:sldId id="290" r:id="rId19"/>
    <p:sldId id="292" r:id="rId20"/>
    <p:sldId id="288" r:id="rId21"/>
    <p:sldId id="279" r:id="rId22"/>
    <p:sldId id="268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E80"/>
    <a:srgbClr val="F15668"/>
    <a:srgbClr val="6CF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D27F25-2EE1-4D38-822F-2130CD8594B2}">
  <a:tblStyle styleId="{5DD27F25-2EE1-4D38-822F-2130CD8594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72"/>
  </p:normalViewPr>
  <p:slideViewPr>
    <p:cSldViewPr snapToGrid="0" snapToObjects="1">
      <p:cViewPr varScale="1">
        <p:scale>
          <a:sx n="174" d="100"/>
          <a:sy n="174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4015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931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16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413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427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2571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971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890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496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C5B9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2F38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1692000" y="3265350"/>
            <a:ext cx="57600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855150" y="1840275"/>
            <a:ext cx="1433700" cy="955800"/>
          </a:xfrm>
          <a:prstGeom prst="wedgeRectCallout">
            <a:avLst>
              <a:gd name="adj1" fmla="val 8366"/>
              <a:gd name="adj2" fmla="val 80819"/>
            </a:avLst>
          </a:prstGeom>
          <a:noFill/>
          <a:ln w="114300" cap="flat" cmpd="sng">
            <a:solidFill>
              <a:srgbClr val="F0576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teal">
  <p:cSld name="TITLE_1">
    <p:bg>
      <p:bgPr>
        <a:solidFill>
          <a:srgbClr val="6CF3CE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00C5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65225" y="2018025"/>
            <a:ext cx="49275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993900"/>
          </a:xfrm>
          <a:prstGeom prst="rect">
            <a:avLst/>
          </a:prstGeom>
          <a:ln w="1143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1139933" y="3640725"/>
            <a:ext cx="274800" cy="2748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pink">
  <p:cSld name="TITLE_1_2">
    <p:bg>
      <p:bgPr>
        <a:solidFill>
          <a:srgbClr val="FD8E80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F057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665225" y="2018025"/>
            <a:ext cx="4927500" cy="15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993900"/>
          </a:xfrm>
          <a:prstGeom prst="rect">
            <a:avLst/>
          </a:prstGeom>
          <a:ln w="1143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1139933" y="3640725"/>
            <a:ext cx="274800" cy="2748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F05768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24"/>
          <p:cNvSpPr/>
          <p:nvPr/>
        </p:nvSpPr>
        <p:spPr>
          <a:xfrm>
            <a:off x="3855150" y="1459275"/>
            <a:ext cx="1433700" cy="955800"/>
          </a:xfrm>
          <a:prstGeom prst="wedgeRectCallout">
            <a:avLst>
              <a:gd name="adj1" fmla="val 8366"/>
              <a:gd name="adj2" fmla="val 808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810450" y="2790325"/>
            <a:ext cx="7523100" cy="80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31800" algn="ctr" rtl="0">
              <a:spcBef>
                <a:spcPts val="600"/>
              </a:spcBef>
              <a:spcAft>
                <a:spcPts val="0"/>
              </a:spcAft>
              <a:buSzPts val="3200"/>
              <a:buChar char="■"/>
              <a:defRPr i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marL="1828800" lvl="3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4pPr>
            <a:lvl5pPr marL="2286000" lvl="4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/>
            </a:lvl5pPr>
            <a:lvl6pPr marL="2743200" lvl="5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/>
            </a:lvl6pPr>
            <a:lvl7pPr marL="3200400" lvl="6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7pPr>
            <a:lvl8pPr marL="3657600" lvl="7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/>
            </a:lvl9pPr>
          </a:lstStyle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3593400" y="1499025"/>
            <a:ext cx="19572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</a:t>
            </a:r>
            <a:endParaRPr sz="6000" b="1">
              <a:solidFill>
                <a:srgbClr val="00C5B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181050" y="1331950"/>
            <a:ext cx="8781900" cy="5357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Shape 29"/>
          <p:cNvGrpSpPr/>
          <p:nvPr/>
        </p:nvGrpSpPr>
        <p:grpSpPr>
          <a:xfrm>
            <a:off x="180850" y="168450"/>
            <a:ext cx="8781900" cy="1296663"/>
            <a:chOff x="180850" y="168450"/>
            <a:chExt cx="8781900" cy="1296663"/>
          </a:xfrm>
        </p:grpSpPr>
        <p:sp>
          <p:nvSpPr>
            <p:cNvPr id="30" name="Shape 30"/>
            <p:cNvSpPr/>
            <p:nvPr/>
          </p:nvSpPr>
          <p:spPr>
            <a:xfrm>
              <a:off x="180850" y="168450"/>
              <a:ext cx="8781900" cy="973500"/>
            </a:xfrm>
            <a:prstGeom prst="rect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 rot="5400000">
              <a:off x="1027273" y="930513"/>
              <a:ext cx="442800" cy="626400"/>
            </a:xfrm>
            <a:prstGeom prst="rtTriangle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361300" y="341550"/>
              <a:ext cx="8421000" cy="62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753150" y="1600200"/>
            <a:ext cx="76377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31800">
              <a:spcBef>
                <a:spcPts val="600"/>
              </a:spcBef>
              <a:spcAft>
                <a:spcPts val="0"/>
              </a:spcAft>
              <a:buSzPts val="3200"/>
              <a:buChar char="■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81050" y="1331950"/>
            <a:ext cx="8781900" cy="5357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Shape 37"/>
          <p:cNvGrpSpPr/>
          <p:nvPr/>
        </p:nvGrpSpPr>
        <p:grpSpPr>
          <a:xfrm>
            <a:off x="180850" y="168450"/>
            <a:ext cx="8781900" cy="1296663"/>
            <a:chOff x="180850" y="168450"/>
            <a:chExt cx="8781900" cy="1296663"/>
          </a:xfrm>
        </p:grpSpPr>
        <p:sp>
          <p:nvSpPr>
            <p:cNvPr id="38" name="Shape 38"/>
            <p:cNvSpPr/>
            <p:nvPr/>
          </p:nvSpPr>
          <p:spPr>
            <a:xfrm>
              <a:off x="180850" y="168450"/>
              <a:ext cx="8781900" cy="973500"/>
            </a:xfrm>
            <a:prstGeom prst="rect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Shape 39"/>
            <p:cNvSpPr/>
            <p:nvPr/>
          </p:nvSpPr>
          <p:spPr>
            <a:xfrm rot="5400000">
              <a:off x="1027273" y="930513"/>
              <a:ext cx="442800" cy="626400"/>
            </a:xfrm>
            <a:prstGeom prst="rtTriangle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40"/>
            <p:cNvSpPr/>
            <p:nvPr/>
          </p:nvSpPr>
          <p:spPr>
            <a:xfrm>
              <a:off x="361300" y="341550"/>
              <a:ext cx="8421000" cy="62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68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■"/>
              <a:defRPr sz="24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92274" y="1600200"/>
            <a:ext cx="3994500" cy="468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■"/>
              <a:defRPr sz="24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/>
        </p:nvSpPr>
        <p:spPr>
          <a:xfrm>
            <a:off x="181050" y="1331950"/>
            <a:ext cx="8781900" cy="5357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Shape 46"/>
          <p:cNvGrpSpPr/>
          <p:nvPr/>
        </p:nvGrpSpPr>
        <p:grpSpPr>
          <a:xfrm>
            <a:off x="180850" y="168450"/>
            <a:ext cx="8781900" cy="1296663"/>
            <a:chOff x="180850" y="168450"/>
            <a:chExt cx="8781900" cy="1296663"/>
          </a:xfrm>
        </p:grpSpPr>
        <p:sp>
          <p:nvSpPr>
            <p:cNvPr id="47" name="Shape 47"/>
            <p:cNvSpPr/>
            <p:nvPr/>
          </p:nvSpPr>
          <p:spPr>
            <a:xfrm>
              <a:off x="180850" y="168450"/>
              <a:ext cx="8781900" cy="973500"/>
            </a:xfrm>
            <a:prstGeom prst="rect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 rot="5400000">
              <a:off x="1027273" y="930513"/>
              <a:ext cx="442800" cy="626400"/>
            </a:xfrm>
            <a:prstGeom prst="rtTriangle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Shape 49"/>
            <p:cNvSpPr/>
            <p:nvPr/>
          </p:nvSpPr>
          <p:spPr>
            <a:xfrm>
              <a:off x="361300" y="341550"/>
              <a:ext cx="8421000" cy="62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489284" y="1600200"/>
            <a:ext cx="26319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2"/>
          </p:nvPr>
        </p:nvSpPr>
        <p:spPr>
          <a:xfrm>
            <a:off x="3256050" y="1600200"/>
            <a:ext cx="26319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3"/>
          </p:nvPr>
        </p:nvSpPr>
        <p:spPr>
          <a:xfrm>
            <a:off x="6022816" y="1600200"/>
            <a:ext cx="26319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Shape 55"/>
          <p:cNvGrpSpPr/>
          <p:nvPr/>
        </p:nvGrpSpPr>
        <p:grpSpPr>
          <a:xfrm>
            <a:off x="180850" y="168450"/>
            <a:ext cx="8781900" cy="1296663"/>
            <a:chOff x="180850" y="168450"/>
            <a:chExt cx="8781900" cy="1296663"/>
          </a:xfrm>
        </p:grpSpPr>
        <p:sp>
          <p:nvSpPr>
            <p:cNvPr id="56" name="Shape 56"/>
            <p:cNvSpPr/>
            <p:nvPr/>
          </p:nvSpPr>
          <p:spPr>
            <a:xfrm>
              <a:off x="180850" y="168450"/>
              <a:ext cx="8781900" cy="973500"/>
            </a:xfrm>
            <a:prstGeom prst="rect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 rot="5400000">
              <a:off x="1027273" y="930513"/>
              <a:ext cx="442800" cy="626400"/>
            </a:xfrm>
            <a:prstGeom prst="rtTriangle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361300" y="341550"/>
              <a:ext cx="8421000" cy="62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ink">
  <p:cSld name="BLANK_1">
    <p:bg>
      <p:bgPr>
        <a:solidFill>
          <a:srgbClr val="FD8E80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F057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_1_1">
    <p:bg>
      <p:bgPr>
        <a:solidFill>
          <a:srgbClr val="00C5B9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2F38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80050" y="274650"/>
            <a:ext cx="7383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80050" y="1600209"/>
            <a:ext cx="73839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31800"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60" r:id="rId11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help-use-presentation-template" TargetMode="External"/><Relationship Id="rId4" Type="http://schemas.openxmlformats.org/officeDocument/2006/relationships/hyperlink" Target="http://www.slidescarnival.com/copyright-and-legal-information" TargetMode="External"/><Relationship Id="rId5" Type="http://schemas.openxmlformats.org/officeDocument/2006/relationships/image" Target="../media/image2.emf"/><Relationship Id="rId6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xfrm>
            <a:off x="1692000" y="3265350"/>
            <a:ext cx="57600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/>
              <a:t>ESM</a:t>
            </a:r>
            <a:r>
              <a:rPr lang="mr-IN" dirty="0" smtClean="0"/>
              <a:t>–</a:t>
            </a:r>
            <a:r>
              <a:rPr lang="de-DE" dirty="0" smtClean="0"/>
              <a:t>TOOLS</a:t>
            </a:r>
            <a:br>
              <a:rPr lang="de-DE" dirty="0" smtClean="0"/>
            </a:br>
            <a:r>
              <a:rPr lang="de-DE" dirty="0" smtClean="0"/>
              <a:t>An </a:t>
            </a:r>
            <a:r>
              <a:rPr lang="de-DE" dirty="0" err="1" smtClean="0"/>
              <a:t>Overview</a:t>
            </a:r>
            <a:endParaRPr dirty="0"/>
          </a:p>
        </p:txBody>
      </p:sp>
      <p:sp>
        <p:nvSpPr>
          <p:cNvPr id="4" name="Shape 75"/>
          <p:cNvSpPr txBox="1">
            <a:spLocks/>
          </p:cNvSpPr>
          <p:nvPr/>
        </p:nvSpPr>
        <p:spPr>
          <a:xfrm>
            <a:off x="1692000" y="5527496"/>
            <a:ext cx="5760000" cy="80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de-DE" sz="2400" dirty="0" smtClean="0"/>
              <a:t>Mitarbeitertag June 14, 2018</a:t>
            </a:r>
          </a:p>
          <a:p>
            <a:r>
              <a:rPr lang="de-DE" sz="2400" dirty="0" smtClean="0"/>
              <a:t>Dirk </a:t>
            </a:r>
            <a:r>
              <a:rPr lang="de-DE" sz="2400" dirty="0" err="1" smtClean="0"/>
              <a:t>Barbi</a:t>
            </a:r>
            <a:r>
              <a:rPr lang="de-DE" sz="2400" dirty="0" smtClean="0"/>
              <a:t>, Nadine </a:t>
            </a:r>
            <a:r>
              <a:rPr lang="de-DE" sz="2400" dirty="0" err="1" smtClean="0"/>
              <a:t>Wieters</a:t>
            </a:r>
            <a:endParaRPr lang="de-DE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 idx="4294967295"/>
          </p:nvPr>
        </p:nvSpPr>
        <p:spPr>
          <a:xfrm>
            <a:off x="650739" y="650800"/>
            <a:ext cx="4782900" cy="10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 dirty="0" smtClean="0"/>
              <a:t>ESM-Tools</a:t>
            </a:r>
            <a:endParaRPr sz="6000" dirty="0"/>
          </a:p>
        </p:txBody>
      </p:sp>
      <p:sp>
        <p:nvSpPr>
          <p:cNvPr id="89" name="Shape 89"/>
          <p:cNvSpPr txBox="1">
            <a:spLocks noGrp="1"/>
          </p:cNvSpPr>
          <p:nvPr>
            <p:ph type="subTitle" idx="4294967295"/>
          </p:nvPr>
        </p:nvSpPr>
        <p:spPr>
          <a:xfrm>
            <a:off x="2554861" y="1697200"/>
            <a:ext cx="6193927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smtClean="0">
                <a:solidFill>
                  <a:srgbClr val="F05768"/>
                </a:solidFill>
              </a:rPr>
              <a:t>Download, </a:t>
            </a:r>
            <a:r>
              <a:rPr lang="de-DE" b="1" dirty="0" err="1" smtClean="0">
                <a:solidFill>
                  <a:srgbClr val="F05768"/>
                </a:solidFill>
              </a:rPr>
              <a:t>compile</a:t>
            </a:r>
            <a:r>
              <a:rPr lang="de-DE" b="1" dirty="0" smtClean="0">
                <a:solidFill>
                  <a:srgbClr val="F05768"/>
                </a:solidFill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</a:rPr>
              <a:t>and</a:t>
            </a:r>
            <a:r>
              <a:rPr lang="de-DE" b="1" dirty="0" smtClean="0">
                <a:solidFill>
                  <a:srgbClr val="F05768"/>
                </a:solidFill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</a:rPr>
              <a:t>run</a:t>
            </a:r>
            <a:r>
              <a:rPr lang="de-DE" b="1" dirty="0" smtClean="0">
                <a:solidFill>
                  <a:srgbClr val="F05768"/>
                </a:solidFill>
              </a:rPr>
              <a:t> (all) </a:t>
            </a:r>
            <a:r>
              <a:rPr lang="de-DE" b="1" dirty="0" err="1" smtClean="0">
                <a:solidFill>
                  <a:srgbClr val="F05768"/>
                </a:solidFill>
              </a:rPr>
              <a:t>your</a:t>
            </a:r>
            <a:r>
              <a:rPr lang="de-DE" b="1" dirty="0" smtClean="0">
                <a:solidFill>
                  <a:srgbClr val="F05768"/>
                </a:solidFill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</a:rPr>
              <a:t>models</a:t>
            </a:r>
            <a:r>
              <a:rPr lang="de-DE" b="1" dirty="0" smtClean="0">
                <a:solidFill>
                  <a:srgbClr val="F05768"/>
                </a:solidFill>
              </a:rPr>
              <a:t> in a </a:t>
            </a:r>
            <a:r>
              <a:rPr lang="de-DE" b="1" dirty="0" err="1" smtClean="0">
                <a:solidFill>
                  <a:srgbClr val="F05768"/>
                </a:solidFill>
              </a:rPr>
              <a:t>standard</a:t>
            </a:r>
            <a:r>
              <a:rPr lang="de-DE" b="1" dirty="0" smtClean="0">
                <a:solidFill>
                  <a:srgbClr val="F05768"/>
                </a:solidFill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</a:rPr>
              <a:t>way</a:t>
            </a:r>
            <a:endParaRPr b="1" dirty="0">
              <a:solidFill>
                <a:srgbClr val="F05768"/>
              </a:solidFill>
            </a:endParaRPr>
          </a:p>
        </p:txBody>
      </p:sp>
      <p:sp>
        <p:nvSpPr>
          <p:cNvPr id="90" name="Shape 90"/>
          <p:cNvSpPr txBox="1">
            <a:spLocks noGrp="1"/>
          </p:cNvSpPr>
          <p:nvPr>
            <p:ph type="body" idx="4294967295"/>
          </p:nvPr>
        </p:nvSpPr>
        <p:spPr>
          <a:xfrm>
            <a:off x="3247671" y="3120545"/>
            <a:ext cx="5331249" cy="32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dirty="0" err="1" smtClean="0"/>
              <a:t>Developed</a:t>
            </a:r>
            <a:r>
              <a:rPr lang="de-DE" sz="2400" dirty="0" smtClean="0"/>
              <a:t> </a:t>
            </a:r>
            <a:r>
              <a:rPr lang="de-DE" sz="2400" dirty="0" err="1" smtClean="0"/>
              <a:t>and</a:t>
            </a:r>
            <a:r>
              <a:rPr lang="de-DE" sz="2400" dirty="0" smtClean="0"/>
              <a:t> </a:t>
            </a:r>
            <a:r>
              <a:rPr lang="de-DE" sz="2400" dirty="0" err="1" smtClean="0"/>
              <a:t>maintained</a:t>
            </a:r>
            <a:r>
              <a:rPr lang="de-DE" sz="2400" dirty="0" smtClean="0"/>
              <a:t> @AWI</a:t>
            </a: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u="sng" dirty="0"/>
              <a:t>You can find </a:t>
            </a:r>
            <a:r>
              <a:rPr lang="de-DE" sz="2400" u="sng" dirty="0" err="1" smtClean="0"/>
              <a:t>us</a:t>
            </a:r>
            <a:r>
              <a:rPr lang="en" sz="2400" u="sng" dirty="0" smtClean="0"/>
              <a:t> </a:t>
            </a:r>
            <a:r>
              <a:rPr lang="en" sz="2400" u="sng" dirty="0"/>
              <a:t>at:</a:t>
            </a:r>
            <a:endParaRPr sz="2400" u="sng" dirty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 smtClean="0"/>
              <a:t>	D</a:t>
            </a:r>
            <a:r>
              <a:rPr lang="de-DE" sz="2400" dirty="0" smtClean="0"/>
              <a:t>irk.Barbi@awi.de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dirty="0" smtClean="0"/>
              <a:t>	Nadine.Wieters@awi.de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dirty="0" smtClean="0"/>
              <a:t>	https://</a:t>
            </a:r>
            <a:r>
              <a:rPr lang="de-DE" sz="2400" dirty="0" err="1" smtClean="0"/>
              <a:t>gitlab.dkrz.de</a:t>
            </a:r>
            <a:r>
              <a:rPr lang="de-DE" sz="2400" dirty="0" smtClean="0"/>
              <a:t>/</a:t>
            </a:r>
            <a:r>
              <a:rPr lang="de-DE" sz="2400" dirty="0" err="1" smtClean="0"/>
              <a:t>esm</a:t>
            </a:r>
            <a:r>
              <a:rPr lang="de-DE" sz="2400" dirty="0" smtClean="0"/>
              <a:t>-tools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title" idx="4294967295"/>
          </p:nvPr>
        </p:nvSpPr>
        <p:spPr>
          <a:xfrm>
            <a:off x="880050" y="274650"/>
            <a:ext cx="73839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/>
              <a:t>ESM-Tools - </a:t>
            </a:r>
            <a:r>
              <a:rPr lang="de-DE" dirty="0" err="1" smtClean="0"/>
              <a:t>Overview</a:t>
            </a:r>
            <a:endParaRPr dirty="0"/>
          </a:p>
        </p:txBody>
      </p:sp>
      <p:sp>
        <p:nvSpPr>
          <p:cNvPr id="203" name="Shape 203"/>
          <p:cNvSpPr txBox="1">
            <a:spLocks noGrp="1"/>
          </p:cNvSpPr>
          <p:nvPr>
            <p:ph type="body" idx="4294967295"/>
          </p:nvPr>
        </p:nvSpPr>
        <p:spPr>
          <a:xfrm>
            <a:off x="457200" y="2286000"/>
            <a:ext cx="26319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>
                <a:solidFill>
                  <a:srgbClr val="F05768"/>
                </a:solidFill>
              </a:rPr>
              <a:t>e</a:t>
            </a:r>
            <a:r>
              <a:rPr lang="de-DE" sz="2400" b="1" dirty="0" err="1" smtClean="0">
                <a:solidFill>
                  <a:srgbClr val="F05768"/>
                </a:solidFill>
              </a:rPr>
              <a:t>sm</a:t>
            </a:r>
            <a:r>
              <a:rPr lang="de-DE" sz="2400" b="1" dirty="0" smtClean="0">
                <a:solidFill>
                  <a:srgbClr val="F05768"/>
                </a:solidFill>
              </a:rPr>
              <a:t>-master</a:t>
            </a:r>
            <a:endParaRPr sz="2400" b="1" dirty="0">
              <a:solidFill>
                <a:srgbClr val="F05768"/>
              </a:solidFill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FFFFFF"/>
                </a:solidFill>
              </a:rPr>
              <a:t>G</a:t>
            </a:r>
            <a:r>
              <a:rPr lang="de-DE" sz="1200" dirty="0" smtClean="0">
                <a:solidFill>
                  <a:srgbClr val="FFFFFF"/>
                </a:solidFill>
              </a:rPr>
              <a:t>et </a:t>
            </a:r>
            <a:r>
              <a:rPr lang="de-DE" sz="1200" dirty="0" err="1" smtClean="0">
                <a:solidFill>
                  <a:srgbClr val="FFFFFF"/>
                </a:solidFill>
              </a:rPr>
              <a:t>the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esm</a:t>
            </a:r>
            <a:r>
              <a:rPr lang="de-DE" sz="1200" dirty="0" smtClean="0">
                <a:solidFill>
                  <a:srgbClr val="FFFFFF"/>
                </a:solidFill>
              </a:rPr>
              <a:t>-tools; </a:t>
            </a:r>
            <a:r>
              <a:rPr lang="de-DE" sz="1200" dirty="0" err="1" smtClean="0">
                <a:solidFill>
                  <a:srgbClr val="FFFFFF"/>
                </a:solidFill>
              </a:rPr>
              <a:t>download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configure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compile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your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models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4" name="Shape 204"/>
          <p:cNvSpPr txBox="1">
            <a:spLocks noGrp="1"/>
          </p:cNvSpPr>
          <p:nvPr>
            <p:ph type="body" idx="4294967295"/>
          </p:nvPr>
        </p:nvSpPr>
        <p:spPr>
          <a:xfrm>
            <a:off x="6065543" y="2286000"/>
            <a:ext cx="26319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>
                <a:solidFill>
                  <a:srgbClr val="F05768"/>
                </a:solidFill>
              </a:rPr>
              <a:t>e</a:t>
            </a:r>
            <a:r>
              <a:rPr lang="de-DE" sz="2400" b="1" dirty="0" err="1" smtClean="0">
                <a:solidFill>
                  <a:srgbClr val="F05768"/>
                </a:solidFill>
              </a:rPr>
              <a:t>sm-runscripts</a:t>
            </a:r>
            <a:endParaRPr sz="2400" b="1" dirty="0">
              <a:solidFill>
                <a:srgbClr val="F05768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Unified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short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runscripts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for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your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models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supporting</a:t>
            </a:r>
            <a:r>
              <a:rPr lang="de-DE" sz="1200" dirty="0" smtClean="0">
                <a:solidFill>
                  <a:srgbClr val="FFFFFF"/>
                </a:solidFill>
              </a:rPr>
              <a:t> iterative </a:t>
            </a:r>
            <a:r>
              <a:rPr lang="de-DE" sz="1200" dirty="0" err="1" smtClean="0">
                <a:solidFill>
                  <a:srgbClr val="FFFFFF"/>
                </a:solidFill>
              </a:rPr>
              <a:t>coupling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hyperthreading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beeond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shortcuts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for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namelist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changes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5" name="Shape 205"/>
          <p:cNvSpPr txBox="1">
            <a:spLocks noGrp="1"/>
          </p:cNvSpPr>
          <p:nvPr>
            <p:ph type="body" idx="4294967295"/>
          </p:nvPr>
        </p:nvSpPr>
        <p:spPr>
          <a:xfrm>
            <a:off x="3152682" y="2286000"/>
            <a:ext cx="26319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>
                <a:solidFill>
                  <a:srgbClr val="F05768"/>
                </a:solidFill>
              </a:rPr>
              <a:t>e</a:t>
            </a:r>
            <a:r>
              <a:rPr lang="de-DE" sz="2400" b="1" dirty="0" err="1" smtClean="0">
                <a:solidFill>
                  <a:srgbClr val="F05768"/>
                </a:solidFill>
              </a:rPr>
              <a:t>sm</a:t>
            </a:r>
            <a:r>
              <a:rPr lang="de-DE" sz="2400" b="1" dirty="0" smtClean="0">
                <a:solidFill>
                  <a:srgbClr val="F05768"/>
                </a:solidFill>
              </a:rPr>
              <a:t>-environment</a:t>
            </a:r>
            <a:endParaRPr sz="2400" b="1" dirty="0">
              <a:solidFill>
                <a:srgbClr val="F05768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Collection </a:t>
            </a:r>
            <a:r>
              <a:rPr lang="de-DE" sz="1200" dirty="0" err="1" smtClean="0">
                <a:solidFill>
                  <a:srgbClr val="FFFFFF"/>
                </a:solidFill>
              </a:rPr>
              <a:t>of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machine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setting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can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be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used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by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esm</a:t>
            </a:r>
            <a:r>
              <a:rPr lang="de-DE" sz="1200" dirty="0" smtClean="0">
                <a:solidFill>
                  <a:srgbClr val="FFFFFF"/>
                </a:solidFill>
              </a:rPr>
              <a:t>-master / </a:t>
            </a:r>
            <a:r>
              <a:rPr lang="de-DE" sz="1200" dirty="0" err="1" smtClean="0">
                <a:solidFill>
                  <a:srgbClr val="FFFFFF"/>
                </a:solidFill>
              </a:rPr>
              <a:t>models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to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compile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or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esm-runscripts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to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run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models</a:t>
            </a:r>
            <a:endParaRPr sz="1200" dirty="0">
              <a:solidFill>
                <a:srgbClr val="FFFFFF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6" name="Shape 206"/>
          <p:cNvSpPr txBox="1">
            <a:spLocks noGrp="1"/>
          </p:cNvSpPr>
          <p:nvPr>
            <p:ph type="body" idx="4294967295"/>
          </p:nvPr>
        </p:nvSpPr>
        <p:spPr>
          <a:xfrm>
            <a:off x="457200" y="4491318"/>
            <a:ext cx="26319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</a:t>
            </a:r>
            <a:r>
              <a:rPr lang="de-DE" sz="2400" b="1" dirty="0" err="1" smtClean="0">
                <a:solidFill>
                  <a:srgbClr val="F05768"/>
                </a:solidFill>
              </a:rPr>
              <a:t>sm-usermanual</a:t>
            </a:r>
            <a:endParaRPr b="1" dirty="0">
              <a:solidFill>
                <a:srgbClr val="FFFFFF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err="1" smtClean="0">
                <a:solidFill>
                  <a:srgbClr val="FFFFFF"/>
                </a:solidFill>
              </a:rPr>
              <a:t>Documentation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How-to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section</a:t>
            </a:r>
            <a:r>
              <a:rPr lang="de-DE" sz="1200" dirty="0" smtClean="0">
                <a:solidFill>
                  <a:srgbClr val="FFFFFF"/>
                </a:solidFill>
              </a:rPr>
              <a:t>, </a:t>
            </a:r>
            <a:r>
              <a:rPr lang="de-DE" sz="1200" dirty="0" err="1" smtClean="0">
                <a:solidFill>
                  <a:srgbClr val="FFFFFF"/>
                </a:solidFill>
              </a:rPr>
              <a:t>description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of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default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settings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7" name="Shape 207"/>
          <p:cNvSpPr txBox="1">
            <a:spLocks noGrp="1"/>
          </p:cNvSpPr>
          <p:nvPr>
            <p:ph type="body" idx="4294967295"/>
          </p:nvPr>
        </p:nvSpPr>
        <p:spPr>
          <a:xfrm>
            <a:off x="3185038" y="4233017"/>
            <a:ext cx="2457371" cy="1998301"/>
          </a:xfrm>
          <a:prstGeom prst="rect">
            <a:avLst/>
          </a:prstGeom>
          <a:ln w="31750">
            <a:solidFill>
              <a:schemeClr val="accent4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b="1" u="sng" dirty="0" err="1" smtClean="0">
                <a:solidFill>
                  <a:srgbClr val="FFFFFF"/>
                </a:solidFill>
              </a:rPr>
              <a:t>Implemented</a:t>
            </a:r>
            <a:r>
              <a:rPr lang="de-DE" sz="1200" b="1" u="sng" dirty="0" smtClean="0">
                <a:solidFill>
                  <a:srgbClr val="FFFFFF"/>
                </a:solidFill>
              </a:rPr>
              <a:t> </a:t>
            </a:r>
            <a:r>
              <a:rPr lang="de-DE" sz="1200" b="1" u="sng" dirty="0" err="1" smtClean="0">
                <a:solidFill>
                  <a:srgbClr val="FFFFFF"/>
                </a:solidFill>
              </a:rPr>
              <a:t>for</a:t>
            </a:r>
            <a:r>
              <a:rPr lang="de-DE" sz="1200" b="1" u="sng" dirty="0" smtClean="0">
                <a:solidFill>
                  <a:srgbClr val="FFFFFF"/>
                </a:solidFill>
              </a:rPr>
              <a:t>: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FESOM 1.4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2.0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ECHAM 6.302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 6.304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AWICM 1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2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MPIESM 1.2.00p4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1.2.01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PISM 1.0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200" dirty="0" smtClean="0">
                <a:solidFill>
                  <a:srgbClr val="FFFFFF"/>
                </a:solidFill>
              </a:rPr>
              <a:t>PISM-MPIESM </a:t>
            </a:r>
            <a:r>
              <a:rPr lang="de-DE" sz="1200" dirty="0" err="1" smtClean="0">
                <a:solidFill>
                  <a:srgbClr val="FFFFFF"/>
                </a:solidFill>
              </a:rPr>
              <a:t>and</a:t>
            </a:r>
            <a:r>
              <a:rPr lang="de-DE" sz="1200" dirty="0" smtClean="0">
                <a:solidFill>
                  <a:srgbClr val="FFFFFF"/>
                </a:solidFill>
              </a:rPr>
              <a:t> PISM-AWICM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8" name="Shape 208"/>
          <p:cNvSpPr txBox="1">
            <a:spLocks noGrp="1"/>
          </p:cNvSpPr>
          <p:nvPr>
            <p:ph type="body" idx="4294967295"/>
          </p:nvPr>
        </p:nvSpPr>
        <p:spPr>
          <a:xfrm>
            <a:off x="6065543" y="4495800"/>
            <a:ext cx="26319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esm</a:t>
            </a:r>
            <a:r>
              <a:rPr lang="de-DE" sz="2400" b="1" dirty="0" smtClean="0">
                <a:solidFill>
                  <a:srgbClr val="F05768"/>
                </a:solidFill>
              </a:rPr>
              <a:t>-workshop</a:t>
            </a:r>
            <a:endParaRPr b="1" dirty="0">
              <a:solidFill>
                <a:srgbClr val="FFFFFF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u="sng" dirty="0" smtClean="0">
                <a:solidFill>
                  <a:srgbClr val="FFFFFF"/>
                </a:solidFill>
              </a:rPr>
              <a:t>Workshop on ESM-Tools: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smtClean="0">
                <a:solidFill>
                  <a:srgbClr val="FFFFFF"/>
                </a:solidFill>
              </a:rPr>
              <a:t>June 18/19 2018,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smtClean="0">
                <a:solidFill>
                  <a:srgbClr val="FFFFFF"/>
                </a:solidFill>
              </a:rPr>
              <a:t>Konferenzzimmer Kantinenturm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de-DE" sz="1200" dirty="0" smtClean="0">
              <a:solidFill>
                <a:srgbClr val="FFFFFF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 err="1" smtClean="0">
                <a:solidFill>
                  <a:srgbClr val="FFFFFF"/>
                </a:solidFill>
              </a:rPr>
              <a:t>as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well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as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the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slides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used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fo</a:t>
            </a:r>
            <a:r>
              <a:rPr lang="de-DE" sz="1200" dirty="0" err="1" smtClean="0">
                <a:solidFill>
                  <a:srgbClr val="FFFFFF"/>
                </a:solidFill>
              </a:rPr>
              <a:t>r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it</a:t>
            </a:r>
            <a:r>
              <a:rPr lang="de-DE" sz="1200" dirty="0" smtClean="0">
                <a:solidFill>
                  <a:srgbClr val="FFFFFF"/>
                </a:solidFill>
              </a:rPr>
              <a:t> (</a:t>
            </a:r>
            <a:r>
              <a:rPr lang="de-DE" sz="1200" dirty="0" err="1" smtClean="0">
                <a:solidFill>
                  <a:srgbClr val="FFFFFF"/>
                </a:solidFill>
              </a:rPr>
              <a:t>including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this</a:t>
            </a:r>
            <a:r>
              <a:rPr lang="de-DE" sz="1200" dirty="0" smtClean="0">
                <a:solidFill>
                  <a:srgbClr val="FFFFFF"/>
                </a:solidFill>
              </a:rPr>
              <a:t> </a:t>
            </a:r>
            <a:r>
              <a:rPr lang="de-DE" sz="1200" dirty="0" err="1" smtClean="0">
                <a:solidFill>
                  <a:srgbClr val="FFFFFF"/>
                </a:solidFill>
              </a:rPr>
              <a:t>talk</a:t>
            </a:r>
            <a:r>
              <a:rPr lang="de-DE" sz="1200" dirty="0" smtClean="0">
                <a:solidFill>
                  <a:srgbClr val="FFFFFF"/>
                </a:solidFill>
              </a:rPr>
              <a:t>).</a:t>
            </a:r>
            <a:endParaRPr sz="1200" dirty="0">
              <a:solidFill>
                <a:srgbClr val="FFFFFF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553138" y="1971372"/>
            <a:ext cx="383719" cy="383695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Shape 222"/>
          <p:cNvGrpSpPr/>
          <p:nvPr/>
        </p:nvGrpSpPr>
        <p:grpSpPr>
          <a:xfrm>
            <a:off x="6126500" y="1931692"/>
            <a:ext cx="423351" cy="423375"/>
            <a:chOff x="570875" y="4322250"/>
            <a:chExt cx="443300" cy="443325"/>
          </a:xfrm>
        </p:grpSpPr>
        <p:sp>
          <p:nvSpPr>
            <p:cNvPr id="223" name="Shape 223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Shape 225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Shape 350"/>
          <p:cNvGrpSpPr/>
          <p:nvPr/>
        </p:nvGrpSpPr>
        <p:grpSpPr>
          <a:xfrm>
            <a:off x="553138" y="4319453"/>
            <a:ext cx="358351" cy="298118"/>
            <a:chOff x="1926350" y="995225"/>
            <a:chExt cx="428650" cy="356600"/>
          </a:xfrm>
        </p:grpSpPr>
        <p:sp>
          <p:nvSpPr>
            <p:cNvPr id="34" name="Shape 351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35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Shape 35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Shape 354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Shape 440"/>
          <p:cNvGrpSpPr/>
          <p:nvPr/>
        </p:nvGrpSpPr>
        <p:grpSpPr>
          <a:xfrm>
            <a:off x="3226559" y="1982420"/>
            <a:ext cx="386943" cy="372647"/>
            <a:chOff x="2583325" y="2972875"/>
            <a:chExt cx="462850" cy="445750"/>
          </a:xfrm>
        </p:grpSpPr>
        <p:sp>
          <p:nvSpPr>
            <p:cNvPr id="39" name="Shape 441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442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Shape 402"/>
          <p:cNvGrpSpPr/>
          <p:nvPr/>
        </p:nvGrpSpPr>
        <p:grpSpPr>
          <a:xfrm>
            <a:off x="6160641" y="4251069"/>
            <a:ext cx="401719" cy="366502"/>
            <a:chOff x="6625350" y="1613750"/>
            <a:chExt cx="480525" cy="438400"/>
          </a:xfrm>
        </p:grpSpPr>
        <p:sp>
          <p:nvSpPr>
            <p:cNvPr id="42" name="Shape 403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Shape 404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405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Shape 406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Shape 407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/>
        </p:nvSpPr>
        <p:spPr>
          <a:xfrm>
            <a:off x="602650" y="2545650"/>
            <a:ext cx="2808000" cy="1766700"/>
          </a:xfrm>
          <a:prstGeom prst="homePlate">
            <a:avLst>
              <a:gd name="adj" fmla="val 30129"/>
            </a:avLst>
          </a:prstGeom>
          <a:noFill/>
          <a:ln w="114300" cap="flat" cmpd="sng">
            <a:solidFill>
              <a:srgbClr val="6CF3C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3114000" y="2545650"/>
            <a:ext cx="2840573" cy="17667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00C5B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de-DE" b="1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6" name="Shape 196"/>
          <p:cNvSpPr/>
          <p:nvPr/>
        </p:nvSpPr>
        <p:spPr>
          <a:xfrm>
            <a:off x="5679350" y="2545650"/>
            <a:ext cx="2862000" cy="17667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2F384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7" name="Shape 197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Suggested</a:t>
            </a:r>
            <a:r>
              <a:rPr lang="de-DE" dirty="0" smtClean="0"/>
              <a:t> </a:t>
            </a:r>
            <a:r>
              <a:rPr lang="de-DE" dirty="0" err="1" smtClean="0"/>
              <a:t>usage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esm</a:t>
            </a:r>
            <a:r>
              <a:rPr lang="de-DE" dirty="0" smtClean="0"/>
              <a:t>-tools</a:t>
            </a:r>
            <a:endParaRPr dirty="0"/>
          </a:p>
        </p:txBody>
      </p:sp>
      <p:sp>
        <p:nvSpPr>
          <p:cNvPr id="7" name="Shape 197"/>
          <p:cNvSpPr txBox="1">
            <a:spLocks/>
          </p:cNvSpPr>
          <p:nvPr/>
        </p:nvSpPr>
        <p:spPr>
          <a:xfrm>
            <a:off x="1058027" y="2942250"/>
            <a:ext cx="1838792" cy="9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de-DE" sz="2000" dirty="0" err="1"/>
              <a:t>e</a:t>
            </a:r>
            <a:r>
              <a:rPr lang="de-DE" sz="2000" dirty="0" err="1" smtClean="0"/>
              <a:t>sm</a:t>
            </a:r>
            <a:r>
              <a:rPr lang="de-DE" sz="2000" dirty="0" smtClean="0"/>
              <a:t>-master</a:t>
            </a:r>
            <a:endParaRPr lang="de-DE" sz="2000" dirty="0"/>
          </a:p>
        </p:txBody>
      </p:sp>
      <p:sp>
        <p:nvSpPr>
          <p:cNvPr id="8" name="Shape 197"/>
          <p:cNvSpPr txBox="1">
            <a:spLocks/>
          </p:cNvSpPr>
          <p:nvPr/>
        </p:nvSpPr>
        <p:spPr>
          <a:xfrm>
            <a:off x="3773928" y="2942250"/>
            <a:ext cx="2104131" cy="9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de-DE" sz="2000" dirty="0" err="1" smtClean="0"/>
              <a:t>esm</a:t>
            </a:r>
            <a:r>
              <a:rPr lang="de-DE" sz="2000" dirty="0" smtClean="0"/>
              <a:t>-environment</a:t>
            </a:r>
            <a:endParaRPr lang="de-DE" sz="2000" dirty="0"/>
          </a:p>
        </p:txBody>
      </p:sp>
      <p:sp>
        <p:nvSpPr>
          <p:cNvPr id="9" name="Shape 197"/>
          <p:cNvSpPr txBox="1">
            <a:spLocks/>
          </p:cNvSpPr>
          <p:nvPr/>
        </p:nvSpPr>
        <p:spPr>
          <a:xfrm>
            <a:off x="6290309" y="2942250"/>
            <a:ext cx="1838792" cy="9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de-DE" sz="2000" dirty="0" err="1" smtClean="0"/>
              <a:t>esm-runscripts</a:t>
            </a:r>
            <a:endParaRPr lang="de-DE" sz="2000" dirty="0"/>
          </a:p>
        </p:txBody>
      </p:sp>
      <p:sp>
        <p:nvSpPr>
          <p:cNvPr id="10" name="Shape 194"/>
          <p:cNvSpPr/>
          <p:nvPr/>
        </p:nvSpPr>
        <p:spPr>
          <a:xfrm>
            <a:off x="1844697" y="4547407"/>
            <a:ext cx="2808000" cy="1766700"/>
          </a:xfrm>
          <a:prstGeom prst="homePlate">
            <a:avLst>
              <a:gd name="adj" fmla="val 30129"/>
            </a:avLst>
          </a:prstGeom>
          <a:noFill/>
          <a:ln w="114300" cap="flat" cmpd="sng">
            <a:solidFill>
              <a:srgbClr val="FE8E8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Shape 195"/>
          <p:cNvSpPr/>
          <p:nvPr/>
        </p:nvSpPr>
        <p:spPr>
          <a:xfrm>
            <a:off x="4360195" y="4547407"/>
            <a:ext cx="2689908" cy="17667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F1566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de-DE" b="1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" name="Shape 197"/>
          <p:cNvSpPr txBox="1">
            <a:spLocks/>
          </p:cNvSpPr>
          <p:nvPr/>
        </p:nvSpPr>
        <p:spPr>
          <a:xfrm>
            <a:off x="2209235" y="4914746"/>
            <a:ext cx="2033582" cy="9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de-DE" sz="2000" dirty="0" err="1" smtClean="0"/>
              <a:t>esm-usermanual</a:t>
            </a:r>
            <a:endParaRPr lang="de-DE" sz="2000" dirty="0"/>
          </a:p>
        </p:txBody>
      </p:sp>
      <p:sp>
        <p:nvSpPr>
          <p:cNvPr id="13" name="Shape 197"/>
          <p:cNvSpPr txBox="1">
            <a:spLocks/>
          </p:cNvSpPr>
          <p:nvPr/>
        </p:nvSpPr>
        <p:spPr>
          <a:xfrm>
            <a:off x="5016520" y="4914746"/>
            <a:ext cx="2033582" cy="9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 b="1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de-DE" sz="2000" dirty="0" err="1" smtClean="0"/>
              <a:t>esm</a:t>
            </a:r>
            <a:r>
              <a:rPr lang="de-DE" sz="2000" dirty="0" smtClean="0"/>
              <a:t>-workshop</a:t>
            </a:r>
            <a:endParaRPr lang="de-DE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ctrTitle"/>
          </p:nvPr>
        </p:nvSpPr>
        <p:spPr>
          <a:xfrm>
            <a:off x="665225" y="2018025"/>
            <a:ext cx="4927500" cy="8056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bg1"/>
                </a:solidFill>
              </a:rPr>
              <a:t>1.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en-US" dirty="0" err="1" smtClean="0"/>
              <a:t>esm</a:t>
            </a:r>
            <a:r>
              <a:rPr lang="de-DE" dirty="0" smtClean="0"/>
              <a:t>-master</a:t>
            </a:r>
            <a:endParaRPr dirty="0"/>
          </a:p>
        </p:txBody>
      </p:sp>
      <p:sp>
        <p:nvSpPr>
          <p:cNvPr id="97" name="Shape 97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9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/>
              <a:t>Download, </a:t>
            </a:r>
            <a:r>
              <a:rPr lang="de-DE" dirty="0" err="1" smtClean="0"/>
              <a:t>configure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compile</a:t>
            </a:r>
            <a:r>
              <a:rPr lang="de-DE" dirty="0" smtClean="0"/>
              <a:t> </a:t>
            </a:r>
            <a:r>
              <a:rPr lang="de-DE" dirty="0" err="1" smtClean="0"/>
              <a:t>your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endParaRPr dirty="0"/>
          </a:p>
        </p:txBody>
      </p:sp>
      <p:grpSp>
        <p:nvGrpSpPr>
          <p:cNvPr id="5" name="Shape 308"/>
          <p:cNvGrpSpPr/>
          <p:nvPr/>
        </p:nvGrpSpPr>
        <p:grpSpPr>
          <a:xfrm>
            <a:off x="6619375" y="532179"/>
            <a:ext cx="1915406" cy="1618489"/>
            <a:chOff x="3918650" y="293075"/>
            <a:chExt cx="488500" cy="412775"/>
          </a:xfrm>
        </p:grpSpPr>
        <p:sp>
          <p:nvSpPr>
            <p:cNvPr id="6" name="Shape 309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Shape 310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Shape 311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</a:t>
            </a:r>
            <a:r>
              <a:rPr lang="de-DE" dirty="0" err="1" smtClean="0"/>
              <a:t>sm</a:t>
            </a:r>
            <a:r>
              <a:rPr lang="de-DE" dirty="0" smtClean="0"/>
              <a:t>-master</a:t>
            </a:r>
            <a:endParaRPr dirty="0"/>
          </a:p>
        </p:txBody>
      </p:sp>
      <p:sp>
        <p:nvSpPr>
          <p:cNvPr id="81" name="Shape 81"/>
          <p:cNvSpPr txBox="1"/>
          <p:nvPr/>
        </p:nvSpPr>
        <p:spPr>
          <a:xfrm>
            <a:off x="457200" y="1921975"/>
            <a:ext cx="3776700" cy="3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Makefile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-based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tool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endParaRPr dirty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ownload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(e.g.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get-mpiesm-1.2.01)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onfigure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(e.g.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conf-mpiesm-1.2.01)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ompile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(e.g.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comp-mpiesm-1.2.01)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Typing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„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gives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you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detailed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list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available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commands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Also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gives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you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access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other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-tools, 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slides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-workshop,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slides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workshop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2" name="Shape 82"/>
          <p:cNvSpPr txBox="1"/>
          <p:nvPr/>
        </p:nvSpPr>
        <p:spPr>
          <a:xfrm>
            <a:off x="4744975" y="1921975"/>
            <a:ext cx="3941700" cy="3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Integration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-environm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</a:t>
            </a:r>
            <a:endParaRPr dirty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If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-environment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exists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in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folder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all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compiling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performed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machine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settings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there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spcBef>
                <a:spcPts val="600"/>
              </a:spcBef>
            </a:pPr>
            <a:r>
              <a:rPr lang="de-DE" b="1" dirty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Integration </a:t>
            </a:r>
            <a:r>
              <a:rPr lang="de-DE" b="1" dirty="0" err="1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</a:t>
            </a:r>
            <a:r>
              <a:rPr lang="de-DE" b="1" dirty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esm-runscripts</a:t>
            </a:r>
            <a:endParaRPr lang="de-DE" dirty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spcBef>
                <a:spcPts val="600"/>
              </a:spcBef>
            </a:pPr>
            <a:r>
              <a:rPr lang="de-DE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If</a:t>
            </a:r>
            <a:r>
              <a:rPr lang="de-DE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esm-runscripts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exists</a:t>
            </a:r>
            <a:r>
              <a:rPr lang="de-DE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in </a:t>
            </a:r>
            <a:r>
              <a:rPr lang="de-DE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 </a:t>
            </a:r>
            <a:r>
              <a:rPr lang="de-DE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folder</a:t>
            </a:r>
            <a:r>
              <a:rPr lang="de-DE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 will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generate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 prototype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runscript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model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after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compiling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it.</a:t>
            </a: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457200" y="5540872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	 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https://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gitlab.dkrz.de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</a:t>
            </a:r>
            <a:endParaRPr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ctrTitle"/>
          </p:nvPr>
        </p:nvSpPr>
        <p:spPr>
          <a:xfrm>
            <a:off x="665225" y="2004366"/>
            <a:ext cx="5560010" cy="8056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bg1"/>
                </a:solidFill>
              </a:rPr>
              <a:t>2</a:t>
            </a:r>
            <a:r>
              <a:rPr lang="en" dirty="0" smtClean="0">
                <a:solidFill>
                  <a:schemeClr val="bg1"/>
                </a:solidFill>
              </a:rPr>
              <a:t>.</a:t>
            </a:r>
            <a:r>
              <a:rPr lang="de-DE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/>
              <a:t>esm</a:t>
            </a:r>
            <a:r>
              <a:rPr lang="de-DE" dirty="0" smtClean="0"/>
              <a:t>-environment</a:t>
            </a:r>
            <a:endParaRPr dirty="0"/>
          </a:p>
        </p:txBody>
      </p:sp>
      <p:sp>
        <p:nvSpPr>
          <p:cNvPr id="97" name="Shape 97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9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/>
              <a:t>All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machine</a:t>
            </a:r>
            <a:r>
              <a:rPr lang="de-DE" dirty="0"/>
              <a:t>-</a:t>
            </a:r>
            <a:r>
              <a:rPr lang="de-DE" dirty="0" smtClean="0"/>
              <a:t>relevant </a:t>
            </a:r>
            <a:r>
              <a:rPr lang="de-DE" dirty="0" err="1" smtClean="0"/>
              <a:t>settings</a:t>
            </a:r>
            <a:r>
              <a:rPr lang="de-DE" dirty="0" smtClean="0"/>
              <a:t> in </a:t>
            </a:r>
            <a:r>
              <a:rPr lang="de-DE" dirty="0" err="1" smtClean="0"/>
              <a:t>one</a:t>
            </a:r>
            <a:r>
              <a:rPr lang="de-DE" dirty="0" smtClean="0"/>
              <a:t> </a:t>
            </a:r>
            <a:r>
              <a:rPr lang="de-DE" dirty="0" err="1" smtClean="0"/>
              <a:t>place</a:t>
            </a:r>
            <a:endParaRPr dirty="0"/>
          </a:p>
        </p:txBody>
      </p:sp>
      <p:grpSp>
        <p:nvGrpSpPr>
          <p:cNvPr id="5" name="Shape 440"/>
          <p:cNvGrpSpPr/>
          <p:nvPr/>
        </p:nvGrpSpPr>
        <p:grpSpPr>
          <a:xfrm>
            <a:off x="6811006" y="636423"/>
            <a:ext cx="1678678" cy="1616658"/>
            <a:chOff x="2583325" y="2972875"/>
            <a:chExt cx="462850" cy="445750"/>
          </a:xfrm>
        </p:grpSpPr>
        <p:sp>
          <p:nvSpPr>
            <p:cNvPr id="6" name="Shape 441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Shape 442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2804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e</a:t>
            </a:r>
            <a:r>
              <a:rPr lang="de-DE" dirty="0" err="1" smtClean="0"/>
              <a:t>sm</a:t>
            </a:r>
            <a:r>
              <a:rPr lang="de-DE" dirty="0" smtClean="0"/>
              <a:t>-environment</a:t>
            </a:r>
            <a:endParaRPr dirty="0"/>
          </a:p>
        </p:txBody>
      </p:sp>
      <p:sp>
        <p:nvSpPr>
          <p:cNvPr id="81" name="Shape 81"/>
          <p:cNvSpPr txBox="1"/>
          <p:nvPr/>
        </p:nvSpPr>
        <p:spPr>
          <a:xfrm>
            <a:off x="457200" y="1921975"/>
            <a:ext cx="3776700" cy="3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Collection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files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containing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(optimal)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setting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machine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e.g.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ollie.awi.de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mistral.dkrz.de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mr-IN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…</a:t>
            </a:r>
            <a:endParaRPr lang="de-DE" b="1" dirty="0" smtClean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</a:t>
            </a:r>
            <a:r>
              <a:rPr lang="en-US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ets</a:t>
            </a: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module files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ets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environment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variables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default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compile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models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esm-runscripts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run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simulations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2" name="Shape 82"/>
          <p:cNvSpPr txBox="1"/>
          <p:nvPr/>
        </p:nvSpPr>
        <p:spPr>
          <a:xfrm>
            <a:off x="4744975" y="1921975"/>
            <a:ext cx="3941700" cy="3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Advantages:</a:t>
            </a:r>
            <a:endParaRPr dirty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Share optimal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settings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new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changed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machines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easily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contradicting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settings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between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compilation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run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-environment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based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on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cmake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build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-system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developed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Jan Hegewald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awicm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457075" y="5555502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using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 (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-environment), </a:t>
            </a:r>
          </a:p>
          <a:p>
            <a:pPr marL="0" lvl="0" indent="0" rtl="0">
              <a:spcAft>
                <a:spcPts val="0"/>
              </a:spcAft>
              <a:buNone/>
            </a:pPr>
            <a:r>
              <a:rPr lang="de-DE" b="1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	 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https://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gitlab.dkrz.de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-environment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820487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ctrTitle"/>
          </p:nvPr>
        </p:nvSpPr>
        <p:spPr>
          <a:xfrm>
            <a:off x="665225" y="2004366"/>
            <a:ext cx="5560010" cy="8056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>
                <a:solidFill>
                  <a:schemeClr val="bg1"/>
                </a:solidFill>
              </a:rPr>
              <a:t>3</a:t>
            </a:r>
            <a:r>
              <a:rPr lang="en" dirty="0" smtClean="0">
                <a:solidFill>
                  <a:schemeClr val="bg1"/>
                </a:solidFill>
              </a:rPr>
              <a:t>.</a:t>
            </a:r>
            <a:r>
              <a:rPr lang="de-DE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/>
              <a:t>esm</a:t>
            </a:r>
            <a:r>
              <a:rPr lang="de-DE" dirty="0" smtClean="0"/>
              <a:t>-</a:t>
            </a:r>
            <a:r>
              <a:rPr lang="de-DE" dirty="0" err="1" smtClean="0"/>
              <a:t>runscripts</a:t>
            </a:r>
            <a:endParaRPr dirty="0"/>
          </a:p>
        </p:txBody>
      </p:sp>
      <p:sp>
        <p:nvSpPr>
          <p:cNvPr id="97" name="Shape 97"/>
          <p:cNvSpPr txBox="1">
            <a:spLocks noGrp="1"/>
          </p:cNvSpPr>
          <p:nvPr>
            <p:ph type="subTitle" idx="1"/>
          </p:nvPr>
        </p:nvSpPr>
        <p:spPr>
          <a:xfrm>
            <a:off x="854252" y="3922274"/>
            <a:ext cx="3815400" cy="14397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/>
              <a:t>Run all </a:t>
            </a:r>
            <a:r>
              <a:rPr lang="de-DE" dirty="0" err="1" smtClean="0"/>
              <a:t>your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short</a:t>
            </a:r>
            <a:r>
              <a:rPr lang="de-DE" dirty="0" smtClean="0"/>
              <a:t>, easy,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almost</a:t>
            </a:r>
            <a:r>
              <a:rPr lang="de-DE" dirty="0" smtClean="0"/>
              <a:t> </a:t>
            </a:r>
            <a:r>
              <a:rPr lang="de-DE" dirty="0" err="1" smtClean="0"/>
              <a:t>identical</a:t>
            </a:r>
            <a:r>
              <a:rPr lang="de-DE" dirty="0" smtClean="0"/>
              <a:t> </a:t>
            </a:r>
            <a:r>
              <a:rPr lang="de-DE" dirty="0" err="1" smtClean="0"/>
              <a:t>runscripts</a:t>
            </a:r>
            <a:endParaRPr dirty="0"/>
          </a:p>
        </p:txBody>
      </p:sp>
      <p:grpSp>
        <p:nvGrpSpPr>
          <p:cNvPr id="8" name="Shape 222"/>
          <p:cNvGrpSpPr/>
          <p:nvPr/>
        </p:nvGrpSpPr>
        <p:grpSpPr>
          <a:xfrm>
            <a:off x="6697086" y="735589"/>
            <a:ext cx="1686134" cy="1686229"/>
            <a:chOff x="570875" y="4322250"/>
            <a:chExt cx="443300" cy="443325"/>
          </a:xfrm>
        </p:grpSpPr>
        <p:sp>
          <p:nvSpPr>
            <p:cNvPr id="9" name="Shape 223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Shape 224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Shape 225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Shape 22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25043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e</a:t>
            </a:r>
            <a:r>
              <a:rPr lang="de-DE" dirty="0" err="1" smtClean="0"/>
              <a:t>sm-runscripts</a:t>
            </a:r>
            <a:endParaRPr dirty="0"/>
          </a:p>
        </p:txBody>
      </p:sp>
      <p:sp>
        <p:nvSpPr>
          <p:cNvPr id="81" name="Shape 81"/>
          <p:cNvSpPr txBox="1"/>
          <p:nvPr/>
        </p:nvSpPr>
        <p:spPr>
          <a:xfrm>
            <a:off x="457075" y="1921975"/>
            <a:ext cx="3776700" cy="3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Huge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set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functions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containing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script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blocks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depending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on 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machine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operating system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batch system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coupled setup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component models</a:t>
            </a: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well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layer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general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functionality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2" name="Shape 82"/>
          <p:cNvSpPr txBox="1"/>
          <p:nvPr/>
        </p:nvSpPr>
        <p:spPr>
          <a:xfrm>
            <a:off x="4744975" y="1921975"/>
            <a:ext cx="3941700" cy="3633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Needed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user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input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dirty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Models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Resolution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Integration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period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Font typeface="Arial" charset="0"/>
              <a:buChar char="•"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spcBef>
                <a:spcPts val="600"/>
              </a:spcBef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Defaults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exist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lang="de-DE" dirty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Physical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Slurm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settings</a:t>
            </a: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Model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Partitioning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  <a:p>
            <a:pPr marL="285750" lvl="0" indent="-285750">
              <a:spcBef>
                <a:spcPts val="600"/>
              </a:spcBef>
              <a:buFont typeface="Arial" charset="0"/>
              <a:buChar char="•"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defaults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overwritten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easily</a:t>
            </a:r>
            <a:r>
              <a:rPr lang="de-DE" b="1" dirty="0" smtClean="0">
                <a:solidFill>
                  <a:srgbClr val="F156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!</a:t>
            </a:r>
            <a:endParaRPr lang="de-DE" b="1" dirty="0">
              <a:solidFill>
                <a:srgbClr val="F156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457075" y="5555502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using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-master (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get-esm-runscripts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), </a:t>
            </a:r>
          </a:p>
          <a:p>
            <a:pPr marL="0" lvl="0" indent="0" rtl="0">
              <a:spcAft>
                <a:spcPts val="0"/>
              </a:spcAft>
              <a:buNone/>
            </a:pPr>
            <a:r>
              <a:rPr lang="de-DE" b="1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	 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https://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gitlab.dkrz.de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esm-runscripts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23600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489275" y="2034700"/>
            <a:ext cx="2631900" cy="4533300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/>
              <a:t>Optimize</a:t>
            </a:r>
            <a:endParaRPr sz="2400" b="1" dirty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 smtClean="0"/>
              <a:t>Choose</a:t>
            </a:r>
            <a:r>
              <a:rPr lang="de-DE" dirty="0" smtClean="0"/>
              <a:t> </a:t>
            </a:r>
            <a:r>
              <a:rPr lang="de-DE" dirty="0" err="1" smtClean="0"/>
              <a:t>hardware</a:t>
            </a:r>
            <a:r>
              <a:rPr lang="de-DE" dirty="0" smtClean="0"/>
              <a:t> </a:t>
            </a:r>
            <a:r>
              <a:rPr lang="de-DE" dirty="0" err="1" smtClean="0"/>
              <a:t>based</a:t>
            </a:r>
            <a:r>
              <a:rPr lang="de-DE" dirty="0" smtClean="0"/>
              <a:t> </a:t>
            </a:r>
            <a:r>
              <a:rPr lang="de-DE" dirty="0" err="1" smtClean="0"/>
              <a:t>options</a:t>
            </a:r>
            <a:r>
              <a:rPr lang="de-DE" dirty="0" smtClean="0"/>
              <a:t> like </a:t>
            </a:r>
            <a:r>
              <a:rPr lang="de-DE" dirty="0" err="1" smtClean="0"/>
              <a:t>hyperthreading</a:t>
            </a:r>
            <a:r>
              <a:rPr lang="de-DE" dirty="0" smtClean="0"/>
              <a:t>, </a:t>
            </a:r>
            <a:r>
              <a:rPr lang="de-DE" dirty="0" err="1" smtClean="0"/>
              <a:t>beeond</a:t>
            </a:r>
            <a:r>
              <a:rPr lang="de-DE" dirty="0" smtClean="0"/>
              <a:t> etc.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setting</a:t>
            </a:r>
            <a:r>
              <a:rPr lang="de-DE" dirty="0" smtClean="0"/>
              <a:t> simple </a:t>
            </a:r>
            <a:r>
              <a:rPr lang="de-DE" dirty="0" err="1" smtClean="0"/>
              <a:t>flags</a:t>
            </a:r>
            <a:r>
              <a:rPr lang="de-DE" dirty="0" smtClean="0"/>
              <a:t>, like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use_beeond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=1</a:t>
            </a:r>
            <a:endParaRPr dirty="0">
              <a:latin typeface="STIXNonUnicode-Regular" charset="0"/>
              <a:ea typeface="STIXNonUnicode-Regular" charset="0"/>
              <a:cs typeface="STIXNonUnicode-Regular" charset="0"/>
            </a:endParaRPr>
          </a:p>
        </p:txBody>
      </p:sp>
      <p:sp>
        <p:nvSpPr>
          <p:cNvPr id="131" name="Shape 131"/>
          <p:cNvSpPr txBox="1">
            <a:spLocks noGrp="1"/>
          </p:cNvSpPr>
          <p:nvPr>
            <p:ph type="body" idx="2"/>
          </p:nvPr>
        </p:nvSpPr>
        <p:spPr>
          <a:xfrm>
            <a:off x="3256047" y="2034700"/>
            <a:ext cx="2631900" cy="4533300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/>
              <a:t>Organize</a:t>
            </a:r>
            <a:r>
              <a:rPr lang="de-DE" sz="2400" b="1" dirty="0" smtClean="0"/>
              <a:t> </a:t>
            </a:r>
            <a:endParaRPr sz="2400" b="1" dirty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smtClean="0"/>
              <a:t>All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automatically</a:t>
            </a:r>
            <a:r>
              <a:rPr lang="de-DE" dirty="0" smtClean="0"/>
              <a:t> </a:t>
            </a:r>
            <a:r>
              <a:rPr lang="de-DE" dirty="0" err="1" smtClean="0"/>
              <a:t>organized</a:t>
            </a:r>
            <a:r>
              <a:rPr lang="de-DE" dirty="0" smtClean="0"/>
              <a:t> </a:t>
            </a:r>
            <a:r>
              <a:rPr lang="de-DE" dirty="0" err="1" smtClean="0"/>
              <a:t>neatly</a:t>
            </a:r>
            <a:r>
              <a:rPr lang="de-DE" dirty="0" smtClean="0"/>
              <a:t> in </a:t>
            </a:r>
            <a:r>
              <a:rPr lang="de-DE" dirty="0" err="1" smtClean="0"/>
              <a:t>subfolders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experiment</a:t>
            </a:r>
            <a:r>
              <a:rPr lang="de-DE" dirty="0" smtClean="0"/>
              <a:t> </a:t>
            </a:r>
            <a:r>
              <a:rPr lang="de-DE" dirty="0" err="1" smtClean="0"/>
              <a:t>folders</a:t>
            </a:r>
            <a:r>
              <a:rPr lang="de-DE" dirty="0" smtClean="0"/>
              <a:t>,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smtClean="0"/>
              <a:t>e.g.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lang="de-DE" dirty="0" smtClean="0"/>
          </a:p>
          <a:p>
            <a:pPr marL="0" lvl="0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forcing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/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echam</a:t>
            </a:r>
            <a:endParaRPr lang="de-DE" dirty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lang="de-DE" dirty="0" smtClean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smtClean="0"/>
              <a:t>(also </a:t>
            </a:r>
            <a:r>
              <a:rPr lang="de-DE" dirty="0" err="1" smtClean="0"/>
              <a:t>init</a:t>
            </a:r>
            <a:r>
              <a:rPr lang="de-DE" dirty="0" smtClean="0"/>
              <a:t>, </a:t>
            </a:r>
            <a:r>
              <a:rPr lang="de-DE" dirty="0" err="1" smtClean="0"/>
              <a:t>output</a:t>
            </a:r>
            <a:r>
              <a:rPr lang="de-DE" dirty="0" smtClean="0"/>
              <a:t>, </a:t>
            </a:r>
            <a:r>
              <a:rPr lang="de-DE" dirty="0" err="1" smtClean="0"/>
              <a:t>restart</a:t>
            </a:r>
            <a:r>
              <a:rPr lang="de-DE" dirty="0" smtClean="0"/>
              <a:t>, log, </a:t>
            </a:r>
            <a:r>
              <a:rPr lang="de-DE" dirty="0" err="1" smtClean="0"/>
              <a:t>config</a:t>
            </a:r>
            <a:r>
              <a:rPr lang="de-DE" dirty="0" smtClean="0"/>
              <a:t>, </a:t>
            </a:r>
            <a:r>
              <a:rPr lang="de-DE" dirty="0" err="1" smtClean="0"/>
              <a:t>scripts</a:t>
            </a:r>
            <a:r>
              <a:rPr lang="de-DE" dirty="0" smtClean="0"/>
              <a:t>)</a:t>
            </a:r>
          </a:p>
        </p:txBody>
      </p:sp>
      <p:sp>
        <p:nvSpPr>
          <p:cNvPr id="132" name="Shape 132"/>
          <p:cNvSpPr txBox="1">
            <a:spLocks noGrp="1"/>
          </p:cNvSpPr>
          <p:nvPr>
            <p:ph type="body" idx="3"/>
          </p:nvPr>
        </p:nvSpPr>
        <p:spPr>
          <a:xfrm>
            <a:off x="6022819" y="2034700"/>
            <a:ext cx="2631900" cy="4533300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/>
              <a:t>Document</a:t>
            </a:r>
            <a:endParaRPr sz="2400" b="1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smtClean="0"/>
              <a:t>All relevant </a:t>
            </a:r>
            <a:r>
              <a:rPr lang="de-DE" dirty="0" err="1" smtClean="0"/>
              <a:t>data</a:t>
            </a:r>
            <a:r>
              <a:rPr lang="de-DE" dirty="0"/>
              <a:t> </a:t>
            </a:r>
            <a:r>
              <a:rPr lang="de-DE" dirty="0" smtClean="0"/>
              <a:t>(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input</a:t>
            </a:r>
            <a:r>
              <a:rPr lang="de-DE" dirty="0" smtClean="0"/>
              <a:t> </a:t>
            </a:r>
            <a:r>
              <a:rPr lang="de-DE" dirty="0" err="1" smtClean="0"/>
              <a:t>files</a:t>
            </a:r>
            <a:r>
              <a:rPr lang="de-DE" dirty="0" smtClean="0"/>
              <a:t>, </a:t>
            </a:r>
            <a:r>
              <a:rPr lang="de-DE" dirty="0" err="1" smtClean="0"/>
              <a:t>parameter</a:t>
            </a:r>
            <a:r>
              <a:rPr lang="de-DE" dirty="0" smtClean="0"/>
              <a:t> </a:t>
            </a:r>
            <a:r>
              <a:rPr lang="de-DE" dirty="0" err="1" smtClean="0"/>
              <a:t>settings</a:t>
            </a:r>
            <a:r>
              <a:rPr lang="de-DE" dirty="0" smtClean="0"/>
              <a:t>, </a:t>
            </a:r>
            <a:r>
              <a:rPr lang="de-DE" dirty="0" err="1" smtClean="0"/>
              <a:t>machine</a:t>
            </a:r>
            <a:r>
              <a:rPr lang="de-DE" dirty="0" smtClean="0"/>
              <a:t> </a:t>
            </a:r>
            <a:r>
              <a:rPr lang="de-DE" dirty="0" err="1" smtClean="0"/>
              <a:t>settings</a:t>
            </a:r>
            <a:r>
              <a:rPr lang="de-DE" dirty="0" smtClean="0"/>
              <a:t>, </a:t>
            </a:r>
            <a:r>
              <a:rPr lang="de-DE" dirty="0" err="1" smtClean="0"/>
              <a:t>namelist</a:t>
            </a:r>
            <a:r>
              <a:rPr lang="de-DE" dirty="0" smtClean="0"/>
              <a:t> </a:t>
            </a:r>
            <a:r>
              <a:rPr lang="de-DE" dirty="0" err="1" smtClean="0"/>
              <a:t>configurations</a:t>
            </a:r>
            <a:r>
              <a:rPr lang="de-DE" dirty="0" smtClean="0"/>
              <a:t>, </a:t>
            </a:r>
            <a:r>
              <a:rPr lang="de-DE" dirty="0" err="1" smtClean="0"/>
              <a:t>runscript</a:t>
            </a:r>
            <a:r>
              <a:rPr lang="de-DE" dirty="0" smtClean="0"/>
              <a:t> </a:t>
            </a:r>
            <a:r>
              <a:rPr lang="de-DE" dirty="0" err="1" smtClean="0"/>
              <a:t>itself</a:t>
            </a:r>
            <a:r>
              <a:rPr lang="de-DE" dirty="0" smtClean="0"/>
              <a:t> etc.)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saved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log </a:t>
            </a:r>
            <a:r>
              <a:rPr lang="de-DE" dirty="0" err="1" smtClean="0"/>
              <a:t>files</a:t>
            </a:r>
            <a:r>
              <a:rPr lang="de-DE" dirty="0" smtClean="0"/>
              <a:t> </a:t>
            </a:r>
            <a:r>
              <a:rPr lang="de-DE" dirty="0" err="1" smtClean="0"/>
              <a:t>nicely</a:t>
            </a:r>
            <a:r>
              <a:rPr lang="de-DE" dirty="0" smtClean="0"/>
              <a:t>. </a:t>
            </a:r>
            <a:endParaRPr dirty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esm-runscripts</a:t>
            </a:r>
            <a:r>
              <a:rPr lang="de-DE" dirty="0" smtClean="0"/>
              <a:t> </a:t>
            </a:r>
            <a:r>
              <a:rPr lang="mr-IN" dirty="0" smtClean="0"/>
              <a:t>–</a:t>
            </a:r>
            <a:r>
              <a:rPr lang="de-DE" dirty="0" smtClean="0"/>
              <a:t> </a:t>
            </a:r>
            <a:r>
              <a:rPr lang="de-DE" dirty="0" err="1" smtClean="0"/>
              <a:t>more</a:t>
            </a:r>
            <a:r>
              <a:rPr lang="de-DE" dirty="0" smtClean="0"/>
              <a:t> </a:t>
            </a:r>
            <a:r>
              <a:rPr lang="de-DE" dirty="0" err="1" smtClean="0"/>
              <a:t>than</a:t>
            </a:r>
            <a:r>
              <a:rPr lang="de-DE" dirty="0" smtClean="0"/>
              <a:t> </a:t>
            </a:r>
            <a:r>
              <a:rPr lang="de-DE" dirty="0" err="1" smtClean="0"/>
              <a:t>runscripts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Shape 14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867"/>
            <a:ext cx="9144000" cy="663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Shape 146"/>
          <p:cNvSpPr/>
          <p:nvPr/>
        </p:nvSpPr>
        <p:spPr>
          <a:xfrm>
            <a:off x="5948218" y="3099466"/>
            <a:ext cx="3069000" cy="2457300"/>
          </a:xfrm>
          <a:prstGeom prst="wedgeRectCallout">
            <a:avLst>
              <a:gd name="adj1" fmla="val 33489"/>
              <a:gd name="adj2" fmla="val 69190"/>
            </a:avLst>
          </a:prstGeom>
          <a:solidFill>
            <a:srgbClr val="2F3848">
              <a:alpha val="71540"/>
            </a:srgbClr>
          </a:solidFill>
          <a:ln w="152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dirty="0" err="1" smtClean="0">
                <a:solidFill>
                  <a:srgbClr val="FD8E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fesom</a:t>
            </a:r>
            <a:r>
              <a:rPr lang="de-DE" sz="2400" b="1" dirty="0" err="1" smtClean="0">
                <a:solidFill>
                  <a:srgbClr val="FD8E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-runscript</a:t>
            </a:r>
            <a:r>
              <a:rPr lang="en" sz="2400" b="1" dirty="0" smtClean="0">
                <a:solidFill>
                  <a:srgbClr val="FD8E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sz="2400" b="1" dirty="0">
              <a:solidFill>
                <a:srgbClr val="FD8E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dirty="0" err="1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That‘s</a:t>
            </a:r>
            <a:r>
              <a:rPr lang="de-DE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all!</a:t>
            </a:r>
            <a:endParaRPr sz="24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ctrTitle" idx="4294967295"/>
          </p:nvPr>
        </p:nvSpPr>
        <p:spPr>
          <a:xfrm>
            <a:off x="685800" y="3101725"/>
            <a:ext cx="6731700" cy="15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200" dirty="0" smtClean="0">
                <a:solidFill>
                  <a:srgbClr val="FFFFFF"/>
                </a:solidFill>
              </a:rPr>
              <a:t>MODULARITY</a:t>
            </a:r>
            <a:endParaRPr sz="7200" dirty="0">
              <a:solidFill>
                <a:srgbClr val="FFFFFF"/>
              </a:solidFill>
            </a:endParaRPr>
          </a:p>
        </p:txBody>
      </p:sp>
      <p:sp>
        <p:nvSpPr>
          <p:cNvPr id="114" name="Shape 114"/>
          <p:cNvSpPr txBox="1">
            <a:spLocks noGrp="1"/>
          </p:cNvSpPr>
          <p:nvPr>
            <p:ph type="subTitle" idx="4294967295"/>
          </p:nvPr>
        </p:nvSpPr>
        <p:spPr>
          <a:xfrm>
            <a:off x="685800" y="4396350"/>
            <a:ext cx="67317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3000" dirty="0" smtClean="0"/>
              <a:t>As </a:t>
            </a:r>
            <a:r>
              <a:rPr lang="de-DE" sz="3000" dirty="0" err="1" smtClean="0"/>
              <a:t>first</a:t>
            </a:r>
            <a:r>
              <a:rPr lang="de-DE" sz="3000" dirty="0" smtClean="0"/>
              <a:t> </a:t>
            </a:r>
            <a:r>
              <a:rPr lang="de-DE" sz="3000" dirty="0" err="1" smtClean="0"/>
              <a:t>step</a:t>
            </a:r>
            <a:r>
              <a:rPr lang="de-DE" sz="3000" dirty="0" smtClean="0"/>
              <a:t> </a:t>
            </a:r>
            <a:r>
              <a:rPr lang="de-DE" sz="3000" dirty="0" err="1" smtClean="0"/>
              <a:t>towards</a:t>
            </a:r>
            <a:r>
              <a:rPr lang="de-DE" sz="3000" dirty="0" smtClean="0"/>
              <a:t> </a:t>
            </a:r>
            <a:r>
              <a:rPr lang="de-DE" sz="3000" dirty="0" err="1" smtClean="0"/>
              <a:t>building</a:t>
            </a:r>
            <a:r>
              <a:rPr lang="de-DE" sz="3000" dirty="0" smtClean="0"/>
              <a:t> a </a:t>
            </a:r>
            <a:r>
              <a:rPr lang="de-DE" sz="3000" dirty="0" err="1" smtClean="0"/>
              <a:t>framework</a:t>
            </a:r>
            <a:r>
              <a:rPr lang="de-DE" sz="3000" dirty="0" smtClean="0"/>
              <a:t> </a:t>
            </a:r>
            <a:r>
              <a:rPr lang="de-DE" sz="3000" dirty="0" err="1" smtClean="0"/>
              <a:t>for</a:t>
            </a:r>
            <a:r>
              <a:rPr lang="de-DE" sz="3000" dirty="0" smtClean="0"/>
              <a:t> Modular Earth System </a:t>
            </a:r>
            <a:r>
              <a:rPr lang="de-DE" sz="3000" dirty="0" err="1" smtClean="0"/>
              <a:t>Modelling</a:t>
            </a:r>
            <a:r>
              <a:rPr lang="de-DE" sz="3000" dirty="0" smtClean="0"/>
              <a:t>, </a:t>
            </a:r>
            <a:r>
              <a:rPr lang="de-DE" sz="3000" dirty="0" err="1" smtClean="0"/>
              <a:t>the</a:t>
            </a:r>
            <a:r>
              <a:rPr lang="de-DE" sz="3000" dirty="0" smtClean="0"/>
              <a:t> </a:t>
            </a:r>
            <a:r>
              <a:rPr lang="de-DE" sz="3000" dirty="0" err="1" smtClean="0"/>
              <a:t>esm-runscripts</a:t>
            </a:r>
            <a:r>
              <a:rPr lang="de-DE" sz="3000" dirty="0" smtClean="0"/>
              <a:t> </a:t>
            </a:r>
            <a:r>
              <a:rPr lang="de-DE" sz="3000" dirty="0" err="1" smtClean="0"/>
              <a:t>are</a:t>
            </a:r>
            <a:r>
              <a:rPr lang="de-DE" sz="3000" dirty="0" smtClean="0"/>
              <a:t> </a:t>
            </a:r>
            <a:r>
              <a:rPr lang="de-DE" sz="3000" dirty="0" err="1" smtClean="0"/>
              <a:t>themselves</a:t>
            </a:r>
            <a:r>
              <a:rPr lang="de-DE" sz="3000" dirty="0" smtClean="0"/>
              <a:t> </a:t>
            </a:r>
            <a:r>
              <a:rPr lang="de-DE" sz="3000" dirty="0" err="1" smtClean="0"/>
              <a:t>implemented</a:t>
            </a:r>
            <a:r>
              <a:rPr lang="de-DE" sz="3000" dirty="0" smtClean="0"/>
              <a:t> in a modular </a:t>
            </a:r>
            <a:r>
              <a:rPr lang="de-DE" sz="3000" dirty="0" err="1" smtClean="0"/>
              <a:t>way</a:t>
            </a:r>
            <a:r>
              <a:rPr lang="de-DE" sz="3000" dirty="0" smtClean="0"/>
              <a:t>.</a:t>
            </a:r>
            <a:endParaRPr sz="3000" dirty="0"/>
          </a:p>
        </p:txBody>
      </p:sp>
      <p:sp>
        <p:nvSpPr>
          <p:cNvPr id="115" name="Shape 115"/>
          <p:cNvSpPr/>
          <p:nvPr/>
        </p:nvSpPr>
        <p:spPr>
          <a:xfrm>
            <a:off x="927338" y="935475"/>
            <a:ext cx="2399400" cy="1921200"/>
          </a:xfrm>
          <a:prstGeom prst="wedgeRectCallout">
            <a:avLst>
              <a:gd name="adj1" fmla="val -32904"/>
              <a:gd name="adj2" fmla="val 66457"/>
            </a:avLst>
          </a:prstGeom>
          <a:noFill/>
          <a:ln w="152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Shape 222"/>
          <p:cNvGrpSpPr/>
          <p:nvPr/>
        </p:nvGrpSpPr>
        <p:grpSpPr>
          <a:xfrm>
            <a:off x="1415644" y="1133427"/>
            <a:ext cx="1551164" cy="1551251"/>
            <a:chOff x="570875" y="4322250"/>
            <a:chExt cx="443300" cy="443325"/>
          </a:xfrm>
        </p:grpSpPr>
        <p:sp>
          <p:nvSpPr>
            <p:cNvPr id="9" name="Shape 223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Shape 224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Shape 225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Shape 22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esm-runscripts</a:t>
            </a:r>
            <a:r>
              <a:rPr lang="de-DE" dirty="0"/>
              <a:t> </a:t>
            </a:r>
            <a:r>
              <a:rPr lang="mr-IN" dirty="0" smtClean="0"/>
              <a:t>–</a:t>
            </a:r>
            <a:r>
              <a:rPr lang="de-DE" dirty="0" smtClean="0"/>
              <a:t> </a:t>
            </a:r>
            <a:r>
              <a:rPr lang="de-DE" dirty="0" err="1" smtClean="0"/>
              <a:t>main</a:t>
            </a:r>
            <a:r>
              <a:rPr lang="de-DE" dirty="0" smtClean="0"/>
              <a:t> </a:t>
            </a:r>
            <a:r>
              <a:rPr lang="de-DE" dirty="0" err="1" smtClean="0"/>
              <a:t>benefits</a:t>
            </a:r>
            <a:endParaRPr dirty="0"/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753150" y="1600200"/>
            <a:ext cx="76377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rtl="0">
              <a:spcBef>
                <a:spcPts val="600"/>
              </a:spcBef>
              <a:spcAft>
                <a:spcPts val="0"/>
              </a:spcAft>
              <a:buSzPts val="3200"/>
              <a:buChar char="■"/>
            </a:pPr>
            <a:r>
              <a:rPr lang="de-DE" dirty="0" err="1" smtClean="0"/>
              <a:t>Get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a </a:t>
            </a:r>
            <a:r>
              <a:rPr lang="de-DE" dirty="0" err="1" smtClean="0"/>
              <a:t>running</a:t>
            </a:r>
            <a:r>
              <a:rPr lang="de-DE" dirty="0" smtClean="0"/>
              <a:t> </a:t>
            </a:r>
            <a:r>
              <a:rPr lang="de-DE" dirty="0" err="1" smtClean="0"/>
              <a:t>simulation</a:t>
            </a:r>
            <a:r>
              <a:rPr lang="de-DE" dirty="0" smtClean="0"/>
              <a:t> </a:t>
            </a:r>
            <a:r>
              <a:rPr lang="de-DE" dirty="0" err="1" smtClean="0"/>
              <a:t>quickly</a:t>
            </a:r>
            <a:endParaRPr lang="de-DE" dirty="0" smtClean="0"/>
          </a:p>
          <a:p>
            <a:pPr marL="457200" lvl="0" indent="-431800" rtl="0">
              <a:spcBef>
                <a:spcPts val="600"/>
              </a:spcBef>
              <a:spcAft>
                <a:spcPts val="0"/>
              </a:spcAft>
              <a:buSzPts val="3200"/>
              <a:buChar char="■"/>
            </a:pPr>
            <a:r>
              <a:rPr lang="de-DE" dirty="0" smtClean="0"/>
              <a:t>Combine </a:t>
            </a:r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 smtClean="0"/>
              <a:t>setups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offline </a:t>
            </a:r>
            <a:r>
              <a:rPr lang="de-DE" dirty="0" err="1" smtClean="0"/>
              <a:t>coupling</a:t>
            </a:r>
            <a:endParaRPr dirty="0"/>
          </a:p>
          <a:p>
            <a:pPr marL="457200" lvl="0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</a:pPr>
            <a:r>
              <a:rPr lang="de-DE" dirty="0" err="1" smtClean="0"/>
              <a:t>Consider</a:t>
            </a:r>
            <a:r>
              <a:rPr lang="de-DE" dirty="0" smtClean="0"/>
              <a:t> </a:t>
            </a:r>
            <a:r>
              <a:rPr lang="de-DE" dirty="0" err="1" smtClean="0"/>
              <a:t>only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scientific</a:t>
            </a:r>
            <a:r>
              <a:rPr lang="de-DE" dirty="0" smtClean="0"/>
              <a:t> </a:t>
            </a:r>
            <a:r>
              <a:rPr lang="de-DE" dirty="0" err="1" smtClean="0"/>
              <a:t>side</a:t>
            </a:r>
            <a:r>
              <a:rPr lang="de-DE" dirty="0" smtClean="0"/>
              <a:t>, not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technical</a:t>
            </a:r>
            <a:r>
              <a:rPr lang="de-DE" dirty="0" smtClean="0"/>
              <a:t> </a:t>
            </a:r>
            <a:r>
              <a:rPr lang="de-DE" dirty="0" err="1" smtClean="0"/>
              <a:t>side</a:t>
            </a:r>
            <a:endParaRPr dirty="0"/>
          </a:p>
          <a:p>
            <a:pPr marL="457200" lvl="0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</a:pPr>
            <a:r>
              <a:rPr lang="de-DE" dirty="0" err="1" smtClean="0"/>
              <a:t>Directly</a:t>
            </a:r>
            <a:r>
              <a:rPr lang="de-DE" dirty="0" smtClean="0"/>
              <a:t> </a:t>
            </a:r>
            <a:r>
              <a:rPr lang="de-DE" dirty="0" err="1" smtClean="0"/>
              <a:t>compare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runs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different </a:t>
            </a:r>
            <a:r>
              <a:rPr lang="de-DE" dirty="0" err="1" smtClean="0"/>
              <a:t>models</a:t>
            </a:r>
            <a:endParaRPr lang="de-DE" dirty="0"/>
          </a:p>
          <a:p>
            <a:pPr marL="457200" lvl="0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</a:pPr>
            <a:r>
              <a:rPr lang="de-DE" dirty="0" err="1" smtClean="0"/>
              <a:t>Have</a:t>
            </a:r>
            <a:r>
              <a:rPr lang="de-DE" dirty="0" smtClean="0"/>
              <a:t> all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functionality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want</a:t>
            </a:r>
            <a:r>
              <a:rPr lang="de-DE" dirty="0" smtClean="0"/>
              <a:t> (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ask</a:t>
            </a:r>
            <a:r>
              <a:rPr lang="de-DE" dirty="0" smtClean="0"/>
              <a:t> </a:t>
            </a:r>
            <a:r>
              <a:rPr lang="de-DE" dirty="0" err="1" smtClean="0"/>
              <a:t>us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810450" y="2790325"/>
            <a:ext cx="7523100" cy="8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work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so </a:t>
            </a:r>
            <a:r>
              <a:rPr lang="de-DE" dirty="0" err="1" smtClean="0"/>
              <a:t>much</a:t>
            </a:r>
            <a:r>
              <a:rPr lang="de-DE" dirty="0" smtClean="0"/>
              <a:t> </a:t>
            </a:r>
            <a:r>
              <a:rPr lang="de-DE" dirty="0" err="1" smtClean="0"/>
              <a:t>fun</a:t>
            </a:r>
            <a:r>
              <a:rPr lang="de-DE" dirty="0" smtClean="0"/>
              <a:t> </a:t>
            </a:r>
            <a:r>
              <a:rPr lang="de-DE" dirty="0" err="1" smtClean="0"/>
              <a:t>that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should</a:t>
            </a:r>
            <a:r>
              <a:rPr lang="de-DE" dirty="0" smtClean="0"/>
              <a:t> do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twice</a:t>
            </a:r>
            <a:r>
              <a:rPr lang="en" dirty="0" smtClean="0"/>
              <a:t>.</a:t>
            </a:r>
            <a:endParaRPr lang="de-DE" dirty="0" smtClean="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i="0" dirty="0" smtClean="0"/>
              <a:t>(</a:t>
            </a:r>
            <a:r>
              <a:rPr lang="de-DE" i="0" dirty="0" err="1" smtClean="0"/>
              <a:t>Someone</a:t>
            </a:r>
            <a:r>
              <a:rPr lang="de-DE" i="0" dirty="0"/>
              <a:t>.</a:t>
            </a:r>
            <a:r>
              <a:rPr lang="de-DE" i="0" dirty="0" smtClean="0"/>
              <a:t>)</a:t>
            </a:r>
            <a:endParaRPr i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ctrTitle"/>
          </p:nvPr>
        </p:nvSpPr>
        <p:spPr>
          <a:xfrm>
            <a:off x="665225" y="2004366"/>
            <a:ext cx="5560010" cy="8056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bg1"/>
                </a:solidFill>
              </a:rPr>
              <a:t>4</a:t>
            </a:r>
            <a:r>
              <a:rPr lang="en" dirty="0" smtClean="0">
                <a:solidFill>
                  <a:schemeClr val="bg1"/>
                </a:solidFill>
              </a:rPr>
              <a:t>.</a:t>
            </a:r>
            <a:r>
              <a:rPr lang="de-DE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/>
              <a:t>esm</a:t>
            </a:r>
            <a:r>
              <a:rPr lang="de-DE" dirty="0" smtClean="0"/>
              <a:t>-</a:t>
            </a:r>
            <a:r>
              <a:rPr lang="de-DE" dirty="0" err="1" smtClean="0"/>
              <a:t>usermanual</a:t>
            </a:r>
            <a:endParaRPr dirty="0"/>
          </a:p>
        </p:txBody>
      </p:sp>
      <p:sp>
        <p:nvSpPr>
          <p:cNvPr id="97" name="Shape 97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8106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Documentation</a:t>
            </a:r>
            <a:r>
              <a:rPr lang="de-DE" dirty="0" smtClean="0"/>
              <a:t> (</a:t>
            </a:r>
            <a:r>
              <a:rPr lang="de-DE" dirty="0" err="1" smtClean="0"/>
              <a:t>really</a:t>
            </a:r>
            <a:r>
              <a:rPr lang="de-DE" dirty="0" smtClean="0"/>
              <a:t>!)</a:t>
            </a:r>
            <a:endParaRPr dirty="0"/>
          </a:p>
        </p:txBody>
      </p:sp>
      <p:grpSp>
        <p:nvGrpSpPr>
          <p:cNvPr id="13" name="Shape 350"/>
          <p:cNvGrpSpPr/>
          <p:nvPr/>
        </p:nvGrpSpPr>
        <p:grpSpPr>
          <a:xfrm>
            <a:off x="6661330" y="500918"/>
            <a:ext cx="1947901" cy="1620490"/>
            <a:chOff x="1926350" y="995225"/>
            <a:chExt cx="428650" cy="356600"/>
          </a:xfrm>
        </p:grpSpPr>
        <p:sp>
          <p:nvSpPr>
            <p:cNvPr id="14" name="Shape 351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35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35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354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0572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e</a:t>
            </a:r>
            <a:r>
              <a:rPr lang="de-DE" dirty="0" err="1" smtClean="0"/>
              <a:t>sm-usermanual</a:t>
            </a:r>
            <a:endParaRPr dirty="0"/>
          </a:p>
        </p:txBody>
      </p:sp>
      <p:sp>
        <p:nvSpPr>
          <p:cNvPr id="81" name="Shape 81"/>
          <p:cNvSpPr txBox="1"/>
          <p:nvPr/>
        </p:nvSpPr>
        <p:spPr>
          <a:xfrm>
            <a:off x="457075" y="1921975"/>
            <a:ext cx="3776700" cy="3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Documentation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feature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available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in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„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How-to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started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quickly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Default settings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Known issues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Open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project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mr-IN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–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feel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free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add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content</a:t>
            </a:r>
            <a:r>
              <a:rPr lang="de-DE" b="1" dirty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!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457075" y="5555502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	 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https://gitlab.dkrz.de/esm-tools/esm-usermanual</a:t>
            </a:r>
          </a:p>
          <a:p>
            <a:pPr marL="0" lvl="0" indent="0" rtl="0">
              <a:spcAft>
                <a:spcPts val="0"/>
              </a:spcAft>
              <a:buNone/>
            </a:pPr>
            <a:endParaRPr lang="de-DE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/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Also check out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b="1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wiki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-page: 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</a:t>
            </a:r>
            <a:r>
              <a:rPr lang="de-DE" b="1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://</a:t>
            </a:r>
            <a:r>
              <a:rPr lang="de-DE" b="1" u="sng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gitlab.dkrz.de</a:t>
            </a:r>
            <a:r>
              <a:rPr lang="de-DE" b="1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-tools/</a:t>
            </a:r>
            <a:r>
              <a:rPr lang="de-DE" b="1" u="sng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esm-runscripts</a:t>
            </a:r>
            <a:r>
              <a:rPr lang="de-DE" b="1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wikis</a:t>
            </a:r>
            <a:r>
              <a:rPr lang="de-DE" b="1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home</a:t>
            </a:r>
            <a:endParaRPr u="sng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75243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ctrTitle"/>
          </p:nvPr>
        </p:nvSpPr>
        <p:spPr>
          <a:xfrm>
            <a:off x="665225" y="2004366"/>
            <a:ext cx="5560010" cy="8056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>
                <a:solidFill>
                  <a:schemeClr val="bg1"/>
                </a:solidFill>
              </a:rPr>
              <a:t>5</a:t>
            </a:r>
            <a:r>
              <a:rPr lang="en" dirty="0" smtClean="0">
                <a:solidFill>
                  <a:schemeClr val="bg1"/>
                </a:solidFill>
              </a:rPr>
              <a:t>.</a:t>
            </a:r>
            <a:r>
              <a:rPr lang="de-DE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/>
              <a:t>esm</a:t>
            </a:r>
            <a:r>
              <a:rPr lang="de-DE" dirty="0" smtClean="0"/>
              <a:t>-workshop</a:t>
            </a:r>
            <a:endParaRPr dirty="0"/>
          </a:p>
        </p:txBody>
      </p:sp>
      <p:sp>
        <p:nvSpPr>
          <p:cNvPr id="97" name="Shape 97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1139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Learn</a:t>
            </a:r>
            <a:r>
              <a:rPr lang="de-DE" dirty="0" smtClean="0"/>
              <a:t> </a:t>
            </a:r>
            <a:r>
              <a:rPr lang="de-DE" dirty="0" err="1" smtClean="0"/>
              <a:t>how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get</a:t>
            </a:r>
            <a:r>
              <a:rPr lang="de-DE" dirty="0" smtClean="0"/>
              <a:t>,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contribute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esm</a:t>
            </a:r>
            <a:r>
              <a:rPr lang="de-DE" dirty="0" smtClean="0"/>
              <a:t>-tools</a:t>
            </a:r>
            <a:endParaRPr dirty="0"/>
          </a:p>
        </p:txBody>
      </p:sp>
      <p:grpSp>
        <p:nvGrpSpPr>
          <p:cNvPr id="13" name="Shape 402"/>
          <p:cNvGrpSpPr/>
          <p:nvPr/>
        </p:nvGrpSpPr>
        <p:grpSpPr>
          <a:xfrm>
            <a:off x="6780417" y="571523"/>
            <a:ext cx="1778994" cy="1623037"/>
            <a:chOff x="6625350" y="1613750"/>
            <a:chExt cx="480525" cy="438400"/>
          </a:xfrm>
        </p:grpSpPr>
        <p:sp>
          <p:nvSpPr>
            <p:cNvPr id="14" name="Shape 403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404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405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406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Shape 407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53115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e</a:t>
            </a:r>
            <a:r>
              <a:rPr lang="de-DE" dirty="0" err="1" smtClean="0"/>
              <a:t>sm</a:t>
            </a:r>
            <a:r>
              <a:rPr lang="de-DE" dirty="0" smtClean="0"/>
              <a:t>-workshop </a:t>
            </a:r>
            <a:endParaRPr dirty="0"/>
          </a:p>
        </p:txBody>
      </p:sp>
      <p:sp>
        <p:nvSpPr>
          <p:cNvPr id="81" name="Shape 81"/>
          <p:cNvSpPr txBox="1"/>
          <p:nvPr/>
        </p:nvSpPr>
        <p:spPr>
          <a:xfrm>
            <a:off x="457075" y="1753724"/>
            <a:ext cx="4202707" cy="370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Day 1: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Introduction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new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users</a:t>
            </a:r>
            <a:endParaRPr lang="de-DE" b="1" dirty="0" smtClean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Overview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Accessing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projects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„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How-to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started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quickly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Writing a </a:t>
            </a:r>
            <a:r>
              <a:rPr lang="en-US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runscripts</a:t>
            </a:r>
            <a:endParaRPr lang="en-US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en-US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Hands-on session</a:t>
            </a:r>
          </a:p>
          <a:p>
            <a:pPr marL="285750" lvl="0" indent="-28575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charset="0"/>
              <a:buChar char="•"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Day 2: Invitation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</a:t>
            </a:r>
            <a:r>
              <a:rPr lang="de-DE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contributors</a:t>
            </a:r>
            <a:endParaRPr lang="de-DE" b="1" dirty="0" smtClean="0">
              <a:solidFill>
                <a:srgbClr val="F0576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Philosophy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behind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tools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Coding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standards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Available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functions</a:t>
            </a: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ts val="1100"/>
              <a:buFont typeface="Arial" charset="0"/>
              <a:buChar char="•"/>
            </a:pP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FAQ /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Missing</a:t>
            </a:r>
            <a:r>
              <a:rPr lang="de-DE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features</a:t>
            </a: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ts val="1100"/>
              <a:buFont typeface="Arial" charset="0"/>
              <a:buChar char="•"/>
            </a:pPr>
            <a:endParaRPr lang="de-DE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endParaRPr lang="de-DE" dirty="0" smtClean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457075" y="5804219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Aft>
                <a:spcPts val="0"/>
              </a:spcAft>
              <a:buNone/>
            </a:pP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slides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including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presentation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</a:t>
            </a:r>
            <a:r>
              <a:rPr lang="de-DE" b="1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</a:t>
            </a:r>
            <a:r>
              <a:rPr lang="de-DE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r>
              <a:rPr lang="de-DE" b="1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https://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gitlab.dkrz.de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-tools/</a:t>
            </a:r>
            <a:r>
              <a:rPr lang="de-DE" b="1" u="sng" dirty="0" err="1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esm</a:t>
            </a:r>
            <a:r>
              <a:rPr lang="de-DE" b="1" u="sng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-workshop</a:t>
            </a:r>
          </a:p>
        </p:txBody>
      </p:sp>
      <p:sp>
        <p:nvSpPr>
          <p:cNvPr id="5" name="Shape 81"/>
          <p:cNvSpPr txBox="1"/>
          <p:nvPr/>
        </p:nvSpPr>
        <p:spPr>
          <a:xfrm>
            <a:off x="3842768" y="2785167"/>
            <a:ext cx="4202707" cy="1517390"/>
          </a:xfrm>
          <a:prstGeom prst="rect">
            <a:avLst/>
          </a:prstGeom>
          <a:noFill/>
          <a:ln w="31750">
            <a:solidFill>
              <a:srgbClr val="F15668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800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</a:t>
            </a:r>
            <a:r>
              <a:rPr lang="de-DE" sz="1800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course</a:t>
            </a:r>
            <a:r>
              <a:rPr lang="de-DE" sz="1800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will </a:t>
            </a:r>
            <a:r>
              <a:rPr lang="de-DE" sz="1800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take</a:t>
            </a:r>
            <a:r>
              <a:rPr lang="de-DE" sz="1800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de-DE" sz="1800" b="1" dirty="0" err="1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place</a:t>
            </a:r>
            <a:r>
              <a:rPr lang="de-DE" sz="1800" b="1" dirty="0" smtClean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	</a:t>
            </a:r>
            <a:r>
              <a:rPr lang="de-DE" b="1" dirty="0" smtClean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JUNE 18 / 19 2018, 9:30 -16:00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	</a:t>
            </a:r>
            <a:r>
              <a:rPr lang="de-DE" b="1" dirty="0" smtClean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Konferenzzimmer Kantinenturm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	</a:t>
            </a:r>
            <a:r>
              <a:rPr lang="de-DE" b="1" dirty="0" smtClean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Building E</a:t>
            </a:r>
          </a:p>
        </p:txBody>
      </p:sp>
    </p:spTree>
    <p:extLst>
      <p:ext uri="{BB962C8B-B14F-4D97-AF65-F5344CB8AC3E}">
        <p14:creationId xmlns:p14="http://schemas.microsoft.com/office/powerpoint/2010/main" val="1561830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title" idx="4294967295"/>
          </p:nvPr>
        </p:nvSpPr>
        <p:spPr>
          <a:xfrm>
            <a:off x="1025399" y="121577"/>
            <a:ext cx="73839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smtClean="0"/>
              <a:t>More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come</a:t>
            </a:r>
            <a:r>
              <a:rPr lang="mr-IN" dirty="0" smtClean="0"/>
              <a:t>…</a:t>
            </a:r>
            <a:endParaRPr dirty="0"/>
          </a:p>
        </p:txBody>
      </p:sp>
      <p:sp>
        <p:nvSpPr>
          <p:cNvPr id="203" name="Shape 203"/>
          <p:cNvSpPr txBox="1">
            <a:spLocks noGrp="1"/>
          </p:cNvSpPr>
          <p:nvPr>
            <p:ph type="body" idx="4294967295"/>
          </p:nvPr>
        </p:nvSpPr>
        <p:spPr>
          <a:xfrm>
            <a:off x="705917" y="1403019"/>
            <a:ext cx="2631900" cy="622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</a:t>
            </a:r>
            <a:r>
              <a:rPr lang="de-DE" sz="2400" b="1" dirty="0" err="1" smtClean="0">
                <a:solidFill>
                  <a:srgbClr val="F05768"/>
                </a:solidFill>
              </a:rPr>
              <a:t>sm</a:t>
            </a:r>
            <a:r>
              <a:rPr lang="de-DE" sz="2400" b="1" dirty="0" smtClean="0">
                <a:solidFill>
                  <a:srgbClr val="F05768"/>
                </a:solidFill>
              </a:rPr>
              <a:t>-master</a:t>
            </a:r>
            <a:endParaRPr sz="2400" b="1" dirty="0">
              <a:solidFill>
                <a:srgbClr val="F05768"/>
              </a:solidFill>
            </a:endParaRPr>
          </a:p>
        </p:txBody>
      </p:sp>
      <p:sp>
        <p:nvSpPr>
          <p:cNvPr id="204" name="Shape 204"/>
          <p:cNvSpPr txBox="1">
            <a:spLocks noGrp="1"/>
          </p:cNvSpPr>
          <p:nvPr>
            <p:ph type="body" idx="4294967295"/>
          </p:nvPr>
        </p:nvSpPr>
        <p:spPr>
          <a:xfrm>
            <a:off x="6314260" y="1403019"/>
            <a:ext cx="2631900" cy="622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smtClean="0">
                <a:solidFill>
                  <a:srgbClr val="F05768"/>
                </a:solidFill>
              </a:rPr>
              <a:t>e</a:t>
            </a:r>
            <a:r>
              <a:rPr lang="de-DE" sz="2400" b="1" smtClean="0">
                <a:solidFill>
                  <a:srgbClr val="F05768"/>
                </a:solidFill>
              </a:rPr>
              <a:t>sm-runscripts</a:t>
            </a:r>
            <a:endParaRPr sz="2400" b="1" dirty="0">
              <a:solidFill>
                <a:srgbClr val="F05768"/>
              </a:solidFill>
            </a:endParaRPr>
          </a:p>
        </p:txBody>
      </p:sp>
      <p:sp>
        <p:nvSpPr>
          <p:cNvPr id="205" name="Shape 205"/>
          <p:cNvSpPr txBox="1">
            <a:spLocks noGrp="1"/>
          </p:cNvSpPr>
          <p:nvPr>
            <p:ph type="body" idx="4294967295"/>
          </p:nvPr>
        </p:nvSpPr>
        <p:spPr>
          <a:xfrm>
            <a:off x="3401399" y="1403019"/>
            <a:ext cx="2631900" cy="622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>
                <a:solidFill>
                  <a:srgbClr val="F05768"/>
                </a:solidFill>
              </a:rPr>
              <a:t>e</a:t>
            </a:r>
            <a:r>
              <a:rPr lang="de-DE" sz="2400" b="1" dirty="0" err="1" smtClean="0">
                <a:solidFill>
                  <a:srgbClr val="F05768"/>
                </a:solidFill>
              </a:rPr>
              <a:t>sm</a:t>
            </a:r>
            <a:r>
              <a:rPr lang="de-DE" sz="2400" b="1" dirty="0" smtClean="0">
                <a:solidFill>
                  <a:srgbClr val="F05768"/>
                </a:solidFill>
              </a:rPr>
              <a:t>-environment</a:t>
            </a:r>
            <a:endParaRPr sz="2400" b="1" dirty="0">
              <a:solidFill>
                <a:srgbClr val="F05768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6" name="Shape 206"/>
          <p:cNvSpPr txBox="1">
            <a:spLocks noGrp="1"/>
          </p:cNvSpPr>
          <p:nvPr>
            <p:ph type="body" idx="4294967295"/>
          </p:nvPr>
        </p:nvSpPr>
        <p:spPr>
          <a:xfrm>
            <a:off x="705917" y="2426903"/>
            <a:ext cx="2631900" cy="600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smtClean="0">
                <a:solidFill>
                  <a:srgbClr val="F05768"/>
                </a:solidFill>
              </a:rPr>
              <a:t>e</a:t>
            </a:r>
            <a:r>
              <a:rPr lang="de-DE" sz="2400" b="1" smtClean="0">
                <a:solidFill>
                  <a:srgbClr val="F05768"/>
                </a:solidFill>
              </a:rPr>
              <a:t>sm-usermanual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208" name="Shape 208"/>
          <p:cNvSpPr txBox="1">
            <a:spLocks noGrp="1"/>
          </p:cNvSpPr>
          <p:nvPr>
            <p:ph type="body" idx="4294967295"/>
          </p:nvPr>
        </p:nvSpPr>
        <p:spPr>
          <a:xfrm>
            <a:off x="6314260" y="2426903"/>
            <a:ext cx="2631900" cy="6028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esm</a:t>
            </a:r>
            <a:r>
              <a:rPr lang="de-DE" sz="2400" b="1" dirty="0" smtClean="0">
                <a:solidFill>
                  <a:srgbClr val="F05768"/>
                </a:solidFill>
              </a:rPr>
              <a:t>-workshop</a:t>
            </a:r>
            <a:endParaRPr b="1" dirty="0">
              <a:solidFill>
                <a:srgbClr val="FFFFFF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814819" y="3632465"/>
            <a:ext cx="383719" cy="383695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Shape 222"/>
          <p:cNvGrpSpPr/>
          <p:nvPr/>
        </p:nvGrpSpPr>
        <p:grpSpPr>
          <a:xfrm>
            <a:off x="6386455" y="1164756"/>
            <a:ext cx="423351" cy="423375"/>
            <a:chOff x="570875" y="4322250"/>
            <a:chExt cx="443300" cy="443325"/>
          </a:xfrm>
        </p:grpSpPr>
        <p:sp>
          <p:nvSpPr>
            <p:cNvPr id="223" name="Shape 223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Shape 225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Shape 350"/>
          <p:cNvGrpSpPr/>
          <p:nvPr/>
        </p:nvGrpSpPr>
        <p:grpSpPr>
          <a:xfrm>
            <a:off x="814819" y="2312036"/>
            <a:ext cx="358351" cy="298118"/>
            <a:chOff x="1926350" y="995225"/>
            <a:chExt cx="428650" cy="356600"/>
          </a:xfrm>
        </p:grpSpPr>
        <p:sp>
          <p:nvSpPr>
            <p:cNvPr id="34" name="Shape 351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352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Shape 35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Shape 354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Shape 440"/>
          <p:cNvGrpSpPr/>
          <p:nvPr/>
        </p:nvGrpSpPr>
        <p:grpSpPr>
          <a:xfrm>
            <a:off x="3486418" y="1205552"/>
            <a:ext cx="386943" cy="372647"/>
            <a:chOff x="2583325" y="2972875"/>
            <a:chExt cx="462850" cy="445750"/>
          </a:xfrm>
        </p:grpSpPr>
        <p:sp>
          <p:nvSpPr>
            <p:cNvPr id="39" name="Shape 441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442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Shape 402"/>
          <p:cNvGrpSpPr/>
          <p:nvPr/>
        </p:nvGrpSpPr>
        <p:grpSpPr>
          <a:xfrm>
            <a:off x="6388337" y="2243652"/>
            <a:ext cx="401719" cy="366502"/>
            <a:chOff x="6625350" y="1613750"/>
            <a:chExt cx="480525" cy="438400"/>
          </a:xfrm>
        </p:grpSpPr>
        <p:sp>
          <p:nvSpPr>
            <p:cNvPr id="42" name="Shape 403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Shape 404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405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Shape 406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Shape 407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424282" y="3372307"/>
            <a:ext cx="8280806" cy="0"/>
          </a:xfrm>
          <a:prstGeom prst="line">
            <a:avLst/>
          </a:prstGeom>
          <a:ln w="22225">
            <a:solidFill>
              <a:srgbClr val="F156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314260" y="3594333"/>
            <a:ext cx="112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3200" dirty="0">
                <a:solidFill>
                  <a:srgbClr val="FFFFFF"/>
                </a:solidFill>
              </a:rPr>
              <a:t>🎨</a:t>
            </a:r>
            <a:endParaRPr lang="en-US" sz="3200" dirty="0"/>
          </a:p>
        </p:txBody>
      </p:sp>
      <p:sp>
        <p:nvSpPr>
          <p:cNvPr id="32" name="Shape 206"/>
          <p:cNvSpPr txBox="1">
            <a:spLocks/>
          </p:cNvSpPr>
          <p:nvPr/>
        </p:nvSpPr>
        <p:spPr>
          <a:xfrm>
            <a:off x="6314260" y="3848392"/>
            <a:ext cx="2631900" cy="60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esm-visualisation</a:t>
            </a:r>
            <a:endParaRPr lang="de-DE" b="1" dirty="0">
              <a:solidFill>
                <a:srgbClr val="FFFFFF"/>
              </a:solidFill>
            </a:endParaRPr>
          </a:p>
        </p:txBody>
      </p:sp>
      <p:sp>
        <p:nvSpPr>
          <p:cNvPr id="47" name="Shape 206"/>
          <p:cNvSpPr txBox="1">
            <a:spLocks/>
          </p:cNvSpPr>
          <p:nvPr/>
        </p:nvSpPr>
        <p:spPr>
          <a:xfrm>
            <a:off x="705917" y="3854065"/>
            <a:ext cx="2631900" cy="60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esm</a:t>
            </a:r>
            <a:r>
              <a:rPr lang="de-DE" sz="2400" b="1" dirty="0" smtClean="0">
                <a:solidFill>
                  <a:srgbClr val="F05768"/>
                </a:solidFill>
              </a:rPr>
              <a:t>-interfaces</a:t>
            </a:r>
            <a:endParaRPr lang="de-DE" b="1" dirty="0">
              <a:solidFill>
                <a:srgbClr val="FFFFFF"/>
              </a:solidFill>
            </a:endParaRPr>
          </a:p>
        </p:txBody>
      </p:sp>
      <p:sp>
        <p:nvSpPr>
          <p:cNvPr id="48" name="Shape 206"/>
          <p:cNvSpPr txBox="1">
            <a:spLocks/>
          </p:cNvSpPr>
          <p:nvPr/>
        </p:nvSpPr>
        <p:spPr>
          <a:xfrm>
            <a:off x="3486418" y="3879077"/>
            <a:ext cx="2631900" cy="60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de-DE" sz="2400" b="1" dirty="0" err="1" smtClean="0">
                <a:solidFill>
                  <a:srgbClr val="F05768"/>
                </a:solidFill>
              </a:rPr>
              <a:t>esm</a:t>
            </a:r>
            <a:r>
              <a:rPr lang="de-DE" sz="2400" b="1" dirty="0" smtClean="0">
                <a:solidFill>
                  <a:srgbClr val="F05768"/>
                </a:solidFill>
              </a:rPr>
              <a:t>-parser</a:t>
            </a:r>
            <a:endParaRPr lang="de-DE" b="1" dirty="0">
              <a:solidFill>
                <a:srgbClr val="FFFFFF"/>
              </a:solidFill>
            </a:endParaRPr>
          </a:p>
        </p:txBody>
      </p:sp>
      <p:sp>
        <p:nvSpPr>
          <p:cNvPr id="49" name="Shape 206"/>
          <p:cNvSpPr txBox="1">
            <a:spLocks/>
          </p:cNvSpPr>
          <p:nvPr/>
        </p:nvSpPr>
        <p:spPr>
          <a:xfrm>
            <a:off x="3089717" y="5679981"/>
            <a:ext cx="3255264" cy="60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de-DE" sz="3600" b="1" dirty="0" err="1" smtClean="0">
                <a:solidFill>
                  <a:srgbClr val="F05768"/>
                </a:solidFill>
              </a:rPr>
              <a:t>esm</a:t>
            </a:r>
            <a:r>
              <a:rPr lang="de-DE" sz="3600" b="1" dirty="0" smtClean="0">
                <a:solidFill>
                  <a:srgbClr val="F05768"/>
                </a:solidFill>
              </a:rPr>
              <a:t>-</a:t>
            </a:r>
            <a:r>
              <a:rPr lang="de-DE" sz="3600" b="1" dirty="0" err="1" smtClean="0">
                <a:solidFill>
                  <a:srgbClr val="F05768"/>
                </a:solidFill>
              </a:rPr>
              <a:t>hgf</a:t>
            </a:r>
            <a:r>
              <a:rPr lang="de-DE" sz="3600" b="1" dirty="0" smtClean="0">
                <a:solidFill>
                  <a:srgbClr val="F05768"/>
                </a:solidFill>
              </a:rPr>
              <a:t>-system</a:t>
            </a:r>
            <a:endParaRPr lang="de-DE" sz="3600" b="1" dirty="0">
              <a:solidFill>
                <a:srgbClr val="FFFFFF"/>
              </a:solidFill>
            </a:endParaRPr>
          </a:p>
        </p:txBody>
      </p:sp>
      <p:grpSp>
        <p:nvGrpSpPr>
          <p:cNvPr id="50" name="Shape 550"/>
          <p:cNvGrpSpPr/>
          <p:nvPr/>
        </p:nvGrpSpPr>
        <p:grpSpPr>
          <a:xfrm>
            <a:off x="3118671" y="5134694"/>
            <a:ext cx="783644" cy="751704"/>
            <a:chOff x="5241175" y="4959100"/>
            <a:chExt cx="539775" cy="517775"/>
          </a:xfrm>
        </p:grpSpPr>
        <p:sp>
          <p:nvSpPr>
            <p:cNvPr id="51" name="Shape 551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Shape 55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Shape 553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Shape 554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Shape 555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Shape 556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Shape 308"/>
          <p:cNvGrpSpPr/>
          <p:nvPr/>
        </p:nvGrpSpPr>
        <p:grpSpPr>
          <a:xfrm>
            <a:off x="808953" y="1200498"/>
            <a:ext cx="408386" cy="345080"/>
            <a:chOff x="3918650" y="293075"/>
            <a:chExt cx="488500" cy="412775"/>
          </a:xfrm>
        </p:grpSpPr>
        <p:sp>
          <p:nvSpPr>
            <p:cNvPr id="58" name="Shape 309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Shape 310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Shape 311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Shape 447"/>
          <p:cNvGrpSpPr/>
          <p:nvPr/>
        </p:nvGrpSpPr>
        <p:grpSpPr>
          <a:xfrm>
            <a:off x="3542508" y="3707916"/>
            <a:ext cx="427781" cy="316489"/>
            <a:chOff x="5255200" y="3006475"/>
            <a:chExt cx="511700" cy="378575"/>
          </a:xfrm>
        </p:grpSpPr>
        <p:sp>
          <p:nvSpPr>
            <p:cNvPr id="62" name="Shape 448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0" t="0" r="0" b="0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Shape 449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0" t="0" r="0" b="0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021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ctrTitle" idx="4294967295"/>
          </p:nvPr>
        </p:nvSpPr>
        <p:spPr>
          <a:xfrm>
            <a:off x="3260375" y="891925"/>
            <a:ext cx="4782900" cy="10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6CF3CE"/>
                </a:solidFill>
              </a:rPr>
              <a:t>Thanks!</a:t>
            </a:r>
            <a:endParaRPr sz="6000">
              <a:solidFill>
                <a:srgbClr val="6CF3CE"/>
              </a:solidFill>
            </a:endParaRPr>
          </a:p>
        </p:txBody>
      </p:sp>
      <p:sp>
        <p:nvSpPr>
          <p:cNvPr id="272" name="Shape 272"/>
          <p:cNvSpPr txBox="1">
            <a:spLocks noGrp="1"/>
          </p:cNvSpPr>
          <p:nvPr>
            <p:ph type="subTitle" idx="4294967295"/>
          </p:nvPr>
        </p:nvSpPr>
        <p:spPr>
          <a:xfrm>
            <a:off x="3260375" y="1938325"/>
            <a:ext cx="4782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FFFFF"/>
                </a:solidFill>
              </a:rPr>
              <a:t>Any questions?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7" name="Shape 90"/>
          <p:cNvSpPr txBox="1">
            <a:spLocks/>
          </p:cNvSpPr>
          <p:nvPr/>
        </p:nvSpPr>
        <p:spPr>
          <a:xfrm>
            <a:off x="3260375" y="4031125"/>
            <a:ext cx="5331249" cy="230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de-DE" sz="2400" u="sng" dirty="0" err="1" smtClean="0">
                <a:solidFill>
                  <a:srgbClr val="6CF3CE"/>
                </a:solidFill>
              </a:rPr>
              <a:t>You</a:t>
            </a:r>
            <a:r>
              <a:rPr lang="de-DE" sz="2400" u="sng" dirty="0" smtClean="0">
                <a:solidFill>
                  <a:srgbClr val="6CF3CE"/>
                </a:solidFill>
              </a:rPr>
              <a:t> </a:t>
            </a:r>
            <a:r>
              <a:rPr lang="de-DE" sz="2400" u="sng" dirty="0" err="1" smtClean="0">
                <a:solidFill>
                  <a:srgbClr val="6CF3CE"/>
                </a:solidFill>
              </a:rPr>
              <a:t>can</a:t>
            </a:r>
            <a:r>
              <a:rPr lang="de-DE" sz="2400" u="sng" dirty="0" smtClean="0">
                <a:solidFill>
                  <a:srgbClr val="6CF3CE"/>
                </a:solidFill>
              </a:rPr>
              <a:t> find </a:t>
            </a:r>
            <a:r>
              <a:rPr lang="de-DE" sz="2400" u="sng" dirty="0" err="1" smtClean="0">
                <a:solidFill>
                  <a:srgbClr val="6CF3CE"/>
                </a:solidFill>
              </a:rPr>
              <a:t>us</a:t>
            </a:r>
            <a:r>
              <a:rPr lang="de-DE" sz="2400" u="sng" dirty="0" smtClean="0">
                <a:solidFill>
                  <a:srgbClr val="6CF3CE"/>
                </a:solidFill>
              </a:rPr>
              <a:t> at:</a:t>
            </a:r>
          </a:p>
          <a:p>
            <a:pPr marL="0" indent="0">
              <a:buFont typeface="Source Sans Pro"/>
              <a:buNone/>
            </a:pPr>
            <a:r>
              <a:rPr lang="de-DE" sz="2400" dirty="0" smtClean="0">
                <a:solidFill>
                  <a:srgbClr val="6CF3CE"/>
                </a:solidFill>
              </a:rPr>
              <a:t>	</a:t>
            </a:r>
            <a:r>
              <a:rPr lang="de-DE" sz="2400" dirty="0" err="1" smtClean="0">
                <a:solidFill>
                  <a:srgbClr val="6CF3CE"/>
                </a:solidFill>
              </a:rPr>
              <a:t>Dirk.Barbi@awi.de</a:t>
            </a:r>
            <a:endParaRPr lang="de-DE" sz="2400" dirty="0" smtClean="0">
              <a:solidFill>
                <a:srgbClr val="6CF3CE"/>
              </a:solidFill>
            </a:endParaRPr>
          </a:p>
          <a:p>
            <a:pPr marL="0" indent="0">
              <a:buFont typeface="Source Sans Pro"/>
              <a:buNone/>
            </a:pPr>
            <a:r>
              <a:rPr lang="de-DE" sz="2400" dirty="0" smtClean="0">
                <a:solidFill>
                  <a:srgbClr val="6CF3CE"/>
                </a:solidFill>
              </a:rPr>
              <a:t>	</a:t>
            </a:r>
            <a:r>
              <a:rPr lang="de-DE" sz="2400" dirty="0" err="1" smtClean="0">
                <a:solidFill>
                  <a:srgbClr val="6CF3CE"/>
                </a:solidFill>
              </a:rPr>
              <a:t>Nadine.Wieters@awi.de</a:t>
            </a:r>
            <a:endParaRPr lang="de-DE" sz="2400" dirty="0" smtClean="0">
              <a:solidFill>
                <a:srgbClr val="6CF3CE"/>
              </a:solidFill>
            </a:endParaRPr>
          </a:p>
          <a:p>
            <a:pPr marL="0" indent="0">
              <a:buFont typeface="Source Sans Pro"/>
              <a:buNone/>
            </a:pPr>
            <a:r>
              <a:rPr lang="de-DE" sz="2400" dirty="0" smtClean="0">
                <a:solidFill>
                  <a:srgbClr val="6CF3CE"/>
                </a:solidFill>
              </a:rPr>
              <a:t>	https://</a:t>
            </a:r>
            <a:r>
              <a:rPr lang="de-DE" sz="2400" dirty="0" err="1" smtClean="0">
                <a:solidFill>
                  <a:srgbClr val="6CF3CE"/>
                </a:solidFill>
              </a:rPr>
              <a:t>gitlab.dkrz.de</a:t>
            </a:r>
            <a:r>
              <a:rPr lang="de-DE" sz="2400" dirty="0" smtClean="0">
                <a:solidFill>
                  <a:srgbClr val="6CF3CE"/>
                </a:solidFill>
              </a:rPr>
              <a:t>/</a:t>
            </a:r>
            <a:r>
              <a:rPr lang="de-DE" sz="2400" dirty="0" err="1" smtClean="0">
                <a:solidFill>
                  <a:srgbClr val="6CF3CE"/>
                </a:solidFill>
              </a:rPr>
              <a:t>esm</a:t>
            </a:r>
            <a:r>
              <a:rPr lang="de-DE" sz="2400" dirty="0" smtClean="0">
                <a:solidFill>
                  <a:srgbClr val="6CF3CE"/>
                </a:solidFill>
              </a:rPr>
              <a:t>-tools</a:t>
            </a:r>
            <a:endParaRPr lang="de-DE" sz="2400" dirty="0">
              <a:solidFill>
                <a:srgbClr val="6CF3C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 smtClean="0"/>
              <a:t>Credits</a:t>
            </a:r>
            <a:endParaRPr dirty="0"/>
          </a:p>
        </p:txBody>
      </p:sp>
      <p:sp>
        <p:nvSpPr>
          <p:cNvPr id="4" name="Shape 83"/>
          <p:cNvSpPr txBox="1"/>
          <p:nvPr/>
        </p:nvSpPr>
        <p:spPr>
          <a:xfrm>
            <a:off x="457200" y="5277525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More info on how to use this template at </a:t>
            </a:r>
            <a:r>
              <a:rPr lang="en" b="1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www.slidescarnival.com/help-use-presentation-template</a:t>
            </a:r>
            <a:endParaRPr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template is free to use under </a:t>
            </a:r>
            <a:r>
              <a:rPr lang="en" u="sng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Creative Commons Attribution license</a:t>
            </a:r>
            <a:r>
              <a:rPr lang="en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You can keep the Credits slide or mention </a:t>
            </a:r>
            <a:r>
              <a:rPr lang="en" dirty="0" err="1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SlidesCarnival</a:t>
            </a:r>
            <a:r>
              <a:rPr lang="en" dirty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and other resources used in a slide footer.</a:t>
            </a: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" name="Bild 5" descr="AWI_WortBildmarke_Farbe_CMYK(1)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87" y="2831148"/>
            <a:ext cx="2372225" cy="934751"/>
          </a:xfrm>
          <a:prstGeom prst="rect">
            <a:avLst/>
          </a:prstGeom>
        </p:spPr>
      </p:pic>
      <p:pic>
        <p:nvPicPr>
          <p:cNvPr id="6" name="Bild 3" descr="RZ_ESM-Logo_RGB_72dpi_extended.jpe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197" y="2831148"/>
            <a:ext cx="2723230" cy="936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nedic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831</Words>
  <Application>Microsoft Macintosh PowerPoint</Application>
  <PresentationFormat>On-screen Show (4:3)</PresentationFormat>
  <Paragraphs>178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Source Sans Pro</vt:lpstr>
      <vt:lpstr>Arial</vt:lpstr>
      <vt:lpstr>Benedick template</vt:lpstr>
      <vt:lpstr>ESM–TOOLS An Overview</vt:lpstr>
      <vt:lpstr>ESM-Tools</vt:lpstr>
      <vt:lpstr>ESM-Tools - Overview</vt:lpstr>
      <vt:lpstr>Suggested usage of the esm-tools</vt:lpstr>
      <vt:lpstr>1. esm-master</vt:lpstr>
      <vt:lpstr>esm-master</vt:lpstr>
      <vt:lpstr>2. esm-environment</vt:lpstr>
      <vt:lpstr>esm-environment</vt:lpstr>
      <vt:lpstr>3. esm-runscripts</vt:lpstr>
      <vt:lpstr>esm-runscripts</vt:lpstr>
      <vt:lpstr>esm-runscripts – more than runscripts</vt:lpstr>
      <vt:lpstr>PowerPoint Presentation</vt:lpstr>
      <vt:lpstr>MODULARITY</vt:lpstr>
      <vt:lpstr>esm-runscripts – main benefits</vt:lpstr>
      <vt:lpstr>PowerPoint Presentation</vt:lpstr>
      <vt:lpstr>4. esm-usermanual</vt:lpstr>
      <vt:lpstr>esm-usermanual</vt:lpstr>
      <vt:lpstr>5. esm-workshop</vt:lpstr>
      <vt:lpstr>esm-workshop </vt:lpstr>
      <vt:lpstr>More to come…</vt:lpstr>
      <vt:lpstr>Thanks!</vt:lpstr>
      <vt:lpstr>Credits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Microsoft Office User</cp:lastModifiedBy>
  <cp:revision>41</cp:revision>
  <dcterms:modified xsi:type="dcterms:W3CDTF">2018-06-13T13:37:55Z</dcterms:modified>
</cp:coreProperties>
</file>